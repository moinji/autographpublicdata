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분기별 매출/영업이익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23Q1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24Q1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25Q1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26Q1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80</c:v>
                </c:pt>
                <c:pt idx="1">
                  <c:v>85</c:v>
                </c:pt>
                <c:pt idx="2">
                  <c:v>90</c:v>
                </c:pt>
                <c:pt idx="3">
                  <c:v>95</c:v>
                </c:pt>
                <c:pt idx="4">
                  <c:v>95</c:v>
                </c:pt>
                <c:pt idx="5">
                  <c:v>100</c:v>
                </c:pt>
                <c:pt idx="6">
                  <c:v>108</c:v>
                </c:pt>
                <c:pt idx="7">
                  <c:v>115</c:v>
                </c:pt>
                <c:pt idx="8">
                  <c:v>128</c:v>
                </c:pt>
                <c:pt idx="9">
                  <c:v>132</c:v>
                </c:pt>
                <c:pt idx="10">
                  <c:v>140</c:v>
                </c:pt>
                <c:pt idx="11">
                  <c:v>148</c:v>
                </c:pt>
                <c:pt idx="12">
                  <c:v>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영업이익(억원)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23Q1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24Q1</c:v>
                </c:pt>
                <c:pt idx="5">
                  <c:v>Q2</c:v>
                </c:pt>
                <c:pt idx="6">
                  <c:v>Q3</c:v>
                </c:pt>
                <c:pt idx="7">
                  <c:v>Q4</c:v>
                </c:pt>
                <c:pt idx="8">
                  <c:v>25Q1</c:v>
                </c:pt>
                <c:pt idx="9">
                  <c:v>Q2</c:v>
                </c:pt>
                <c:pt idx="10">
                  <c:v>Q3</c:v>
                </c:pt>
                <c:pt idx="11">
                  <c:v>Q4</c:v>
                </c:pt>
                <c:pt idx="12">
                  <c:v>26Q1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  <c:pt idx="12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비용 구성 비율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비용비중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인건비</c:v>
                </c:pt>
                <c:pt idx="1">
                  <c:v>재료비</c:v>
                </c:pt>
                <c:pt idx="2">
                  <c:v>마케팅비</c:v>
                </c:pt>
                <c:pt idx="3">
                  <c:v>임차료</c:v>
                </c:pt>
                <c:pt idx="4">
                  <c:v>감가상각</c:v>
                </c:pt>
                <c:pt idx="5">
                  <c:v>외주비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</c:v>
                </c:pt>
                <c:pt idx="1">
                  <c:v>25</c:v>
                </c:pt>
                <c:pt idx="2">
                  <c:v>13</c:v>
                </c:pt>
                <c:pt idx="3">
                  <c:v>8</c:v>
                </c:pt>
                <c:pt idx="4">
                  <c:v>6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>
                  <a:latin typeface="맑은 고딕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채권/채무 연령별 잔액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매출채권(백만원)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30일 이내</c:v>
                </c:pt>
                <c:pt idx="1">
                  <c:v>31~60일</c:v>
                </c:pt>
                <c:pt idx="2">
                  <c:v>61~90일</c:v>
                </c:pt>
                <c:pt idx="3">
                  <c:v>91~120일</c:v>
                </c:pt>
                <c:pt idx="4">
                  <c:v>120일 초과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4800</c:v>
                </c:pt>
                <c:pt idx="1">
                  <c:v>2100</c:v>
                </c:pt>
                <c:pt idx="2">
                  <c:v>850</c:v>
                </c:pt>
                <c:pt idx="3">
                  <c:v>350</c:v>
                </c:pt>
                <c:pt idx="4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매입채무(백만원)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30일 이내</c:v>
                </c:pt>
                <c:pt idx="1">
                  <c:v>31~60일</c:v>
                </c:pt>
                <c:pt idx="2">
                  <c:v>61~90일</c:v>
                </c:pt>
                <c:pt idx="3">
                  <c:v>91~120일</c:v>
                </c:pt>
                <c:pt idx="4">
                  <c:v>120일 초과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2800</c:v>
                </c:pt>
                <c:pt idx="1">
                  <c:v>1200</c:v>
                </c:pt>
                <c:pt idx="2">
                  <c:v>350</c:v>
                </c:pt>
                <c:pt idx="3">
                  <c:v>100</c:v>
                </c:pt>
                <c:pt idx="4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latin typeface="맑은 고딕"/>
              </a:defRPr>
            </a:pPr>
            <a:r>
              <a:t>예산 vs 실적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예산(억원)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매출</c:v>
                </c:pt>
                <c:pt idx="1">
                  <c:v>매출원가</c:v>
                </c:pt>
                <c:pt idx="2">
                  <c:v>인건비</c:v>
                </c:pt>
                <c:pt idx="3">
                  <c:v>마케팅</c:v>
                </c:pt>
                <c:pt idx="4">
                  <c:v>설비투자</c:v>
                </c:pt>
                <c:pt idx="5">
                  <c:v>연구개발</c:v>
                </c:pt>
                <c:pt idx="6">
                  <c:v>관리비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</c:v>
                </c:pt>
                <c:pt idx="1">
                  <c:v>84</c:v>
                </c:pt>
                <c:pt idx="2">
                  <c:v>40</c:v>
                </c:pt>
                <c:pt idx="3">
                  <c:v>15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실적(억원)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매출</c:v>
                </c:pt>
                <c:pt idx="1">
                  <c:v>매출원가</c:v>
                </c:pt>
                <c:pt idx="2">
                  <c:v>인건비</c:v>
                </c:pt>
                <c:pt idx="3">
                  <c:v>마케팅</c:v>
                </c:pt>
                <c:pt idx="4">
                  <c:v>설비투자</c:v>
                </c:pt>
                <c:pt idx="5">
                  <c:v>연구개발</c:v>
                </c:pt>
                <c:pt idx="6">
                  <c:v>관리비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152</c:v>
                </c:pt>
                <c:pt idx="1">
                  <c:v>91</c:v>
                </c:pt>
                <c:pt idx="2">
                  <c:v>43</c:v>
                </c:pt>
                <c:pt idx="3">
                  <c:v>17</c:v>
                </c:pt>
                <c:pt idx="4">
                  <c:v>12</c:v>
                </c:pt>
                <c:pt idx="5">
                  <c:v>9</c:v>
                </c:pt>
                <c:pt idx="6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9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재무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CF0F1"/>
                </a:solidFill>
                <a:latin typeface="맑은 고딕"/>
              </a:defRPr>
            </a:pPr>
            <a:r>
              <a:t>2026년 1분기 | 주식회사 샘플테크</a:t>
            </a:r>
            <a:br/>
            <a:r>
              <a:t>재무팀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재무 핵심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03807" y="1645920"/>
            <a:ext cx="173736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152억원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매출액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5487" y="1645920"/>
            <a:ext cx="1737360" cy="1463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23억원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영업이익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7167" y="1645920"/>
            <a:ext cx="173736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15.1%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영업이익률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8847" y="1645920"/>
            <a:ext cx="173736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18억원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당기순이익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0527" y="1645920"/>
            <a:ext cx="1737360" cy="146304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42%</a:t>
            </a:r>
          </a:p>
          <a:p>
            <a:pPr algn="ctr">
              <a:defRPr sz="1300">
                <a:solidFill>
                  <a:srgbClr val="FFFFFF"/>
                </a:solidFill>
                <a:latin typeface="맑은 고딕"/>
              </a:defRPr>
            </a:pPr>
            <a:r>
              <a:t>부채비율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손익계산서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 (단위: 백만원)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2026.Q1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2025.Q1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증감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증감률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15,200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12,800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+2,400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매출원가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(9,120)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(7,936)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(+1,184)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+14.9%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매출총이익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6,080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4,864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+1,216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판매관리비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(3,780)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(3,200)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(+580)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+18.1%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인건비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(2,100)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(1,800)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(+300)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+16.7%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마케팅비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(850)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(700)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+21.4%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감가상각비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(380)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(320)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(+60)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(450)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(380)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+18.4%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영업이익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1,664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+636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+38.2%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영업외수익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+50.0%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영업외비용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(280)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(250)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(+30)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+12.0%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법인세차감전이익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+43.4%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법인세비용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(400)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(280)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(+120)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+42.9%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당기순이익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+43.5%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재무상태표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2026.03.31 기준 (단위: 백만원)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5669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자산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유동자산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현금및현금성자산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매출채권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재고자산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기타유동자산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비유동자산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25,500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유형자산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무형자산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투자자산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자산총계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669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부채 및 자본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유동부채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8,200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매입채무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단기차입금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기타유동부채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비유동부채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장기차입금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기타비유동부채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1,300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부채총계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자본총계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30,500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부채+자본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매출 및 이익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2023 ~ 2026 분기별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비용 구조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[비용 분석]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총 비용: 129억원 (전년비 +15%)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인건비 (33%, 42.6억원):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직원 127명, 평균연봉 6,400만원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신규 채용 18명 반영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재료비 (25%, 32.3억원):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원자재 가격 상승 영향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대체 공급처 발굴 진행중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마케팅비 (13%, 16.8억원):</a:t>
            </a:r>
          </a:p>
          <a:p>
            <a:pPr>
              <a:spcAft>
                <a:spcPts val="330"/>
              </a:spcAft>
              <a:defRPr sz="1100">
                <a:solidFill>
                  <a:srgbClr val="2C3E50"/>
                </a:solidFill>
                <a:latin typeface="맑은 고딕"/>
              </a:defRPr>
            </a:pPr>
            <a:r>
              <a:t>  봄 시즌 프로모션 집중 집행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현금흐름표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26469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금액(백만원)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기초 현금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4,500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2025.12.31 기준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영업활동 CF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+2,800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당기순이익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감가상각비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+380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비현금 비용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매출채권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외상 매출 증가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매입채무 증가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+320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결제 조건 연장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투자활동 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설비 투자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-1,200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생산설비 증설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무형자산 취득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소프트웨어 라이선스</a:t>
                      </a: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재무활동 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차입금 상환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-500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단기 차입금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  배당금 지급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264694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64708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기말 현금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+700 (순증)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매출채권/매입채무 연령 분석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7160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매출채권 총액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83억원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매출채권회전율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7.3회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평균회수일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50일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개선필요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대손충당금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대손율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매입채무 총액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평균지급일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주요 재무 비율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업계 평균 대비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1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1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2025.Q1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2026.Q1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변동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업계평균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</a:t>
                      </a:r>
                    </a:p>
                  </a:txBody>
                  <a:tcPr>
                    <a:solidFill>
                      <a:srgbClr val="22995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수익성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매출총이익률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+2.0%p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우수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수익성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영업이익률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+2.1%p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우수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수익성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순이익률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+2.0%p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우수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수익성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+7.2%p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우수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안정성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부채비율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-6%p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안정성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유동비율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+11%p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활동성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총자산회전율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1.4회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1.5회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+0.1회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1.2회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활동성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재고자산회전율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12회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13회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+1회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10회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양호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예산 대비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맑은 고딕"/>
              </a:defRPr>
            </a:pPr>
            <a:r>
              <a:t>2026년 1분기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월말 결산 프로세스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전표 마감</a:t>
            </a:r>
            <a:br/>
            <a:r>
              <a:t>(D-5)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164592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은행조정</a:t>
            </a:r>
            <a:br/>
            <a:r>
              <a:t>(D-2)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164592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수정분개</a:t>
            </a:r>
            <a:br/>
            <a:r>
              <a:t>(D-1)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4340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1645920" cy="8229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시산표</a:t>
            </a:r>
            <a:br/>
            <a:r>
              <a:t>검토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3796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1828800"/>
            <a:ext cx="164592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재무제표</a:t>
            </a:r>
            <a:br/>
            <a:r>
              <a:t>확정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52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247120" y="1828800"/>
            <a:ext cx="1645920" cy="82296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경영진</a:t>
            </a:r>
            <a:br/>
            <a:r>
              <a:t>보고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927080" y="2240280"/>
            <a:ext cx="32004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474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소요일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자동화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체크포인트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전표 마감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영업/구매팀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D-5~D-3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미처리 전표 제로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은행 조정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재무팀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D-2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차이 ±10만원 이내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수정 분개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재무팀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D-1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감가상각/충당금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시산표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재무팀장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D-Day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수동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차대 균형 확인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재무제표 확정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CFO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D-Day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자동생성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최종 승인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276"/>
                </a:solidFill>
                <a:latin typeface="맑은 고딕"/>
              </a:defRPr>
            </a:pPr>
            <a:r>
              <a:t>2분기 전망 및 이슈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전망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매출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165억원 (+8.6%)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경기 둔화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신규 고객 확보 강화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영업이익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26억원 (15.8%)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원자재 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대체 공급처 확보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설비투자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15억원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공급 지연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조기 발주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인건비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45억원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인력 이탈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처우 개선 (시니어)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세금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법인세 중간예납 (8월)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세율 변경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세무사 자문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7F8C8D"/>
                </a:solidFill>
                <a:latin typeface="맑은 고딕"/>
              </a:defRPr>
            </a:pPr>
            <a:r>
              <a:t>[CFO Comment] 1분기 영업이익률 15.1%로 사상 최고치 달성. 2분기에도 성장 모멘텀 유지하되, 원자재 및 인건비 상승에 대비한 비용 효율화 필요.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8C8D"/>
                </a:solidFill>
                <a:latin typeface="맑은 고딕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