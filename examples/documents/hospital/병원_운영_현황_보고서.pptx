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진료과별 환자 수 (명)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외래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내과</c:v>
                </c:pt>
                <c:pt idx="1">
                  <c:v>외과</c:v>
                </c:pt>
                <c:pt idx="2">
                  <c:v>소아과</c:v>
                </c:pt>
                <c:pt idx="3">
                  <c:v>정형외과</c:v>
                </c:pt>
                <c:pt idx="4">
                  <c:v>응급의학과</c:v>
                </c:pt>
                <c:pt idx="5">
                  <c:v>산부인과</c:v>
                </c:pt>
                <c:pt idx="6">
                  <c:v>신경과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3200</c:v>
                </c:pt>
                <c:pt idx="1">
                  <c:v>2100</c:v>
                </c:pt>
                <c:pt idx="2">
                  <c:v>1800</c:v>
                </c:pt>
                <c:pt idx="3">
                  <c:v>2500</c:v>
                </c:pt>
                <c:pt idx="4">
                  <c:v>1500</c:v>
                </c:pt>
                <c:pt idx="5">
                  <c:v>1200</c:v>
                </c:pt>
                <c:pt idx="6">
                  <c:v>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A4-49D4-BC03-95CF3F8936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입원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내과</c:v>
                </c:pt>
                <c:pt idx="1">
                  <c:v>외과</c:v>
                </c:pt>
                <c:pt idx="2">
                  <c:v>소아과</c:v>
                </c:pt>
                <c:pt idx="3">
                  <c:v>정형외과</c:v>
                </c:pt>
                <c:pt idx="4">
                  <c:v>응급의학과</c:v>
                </c:pt>
                <c:pt idx="5">
                  <c:v>산부인과</c:v>
                </c:pt>
                <c:pt idx="6">
                  <c:v>신경과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450</c:v>
                </c:pt>
                <c:pt idx="1">
                  <c:v>380</c:v>
                </c:pt>
                <c:pt idx="2">
                  <c:v>120</c:v>
                </c:pt>
                <c:pt idx="3">
                  <c:v>520</c:v>
                </c:pt>
                <c:pt idx="4">
                  <c:v>280</c:v>
                </c:pt>
                <c:pt idx="5">
                  <c:v>310</c:v>
                </c:pt>
                <c:pt idx="6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A4-49D4-BC03-95CF3F893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2025년 월별 환자 수 추이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외래환자(명)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4100</c:v>
                </c:pt>
                <c:pt idx="1">
                  <c:v>3800</c:v>
                </c:pt>
                <c:pt idx="2">
                  <c:v>4950</c:v>
                </c:pt>
                <c:pt idx="3">
                  <c:v>4200</c:v>
                </c:pt>
                <c:pt idx="4">
                  <c:v>4500</c:v>
                </c:pt>
                <c:pt idx="5">
                  <c:v>4800</c:v>
                </c:pt>
                <c:pt idx="6">
                  <c:v>4300</c:v>
                </c:pt>
                <c:pt idx="7">
                  <c:v>3900</c:v>
                </c:pt>
                <c:pt idx="8">
                  <c:v>4600</c:v>
                </c:pt>
                <c:pt idx="9">
                  <c:v>4700</c:v>
                </c:pt>
                <c:pt idx="10">
                  <c:v>4400</c:v>
                </c:pt>
                <c:pt idx="11">
                  <c:v>4200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46-4654-B806-B4D8FE159C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입원환자(명)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720</c:v>
                </c:pt>
                <c:pt idx="1">
                  <c:v>680</c:v>
                </c:pt>
                <c:pt idx="2">
                  <c:v>940</c:v>
                </c:pt>
                <c:pt idx="3">
                  <c:v>780</c:v>
                </c:pt>
                <c:pt idx="4">
                  <c:v>820</c:v>
                </c:pt>
                <c:pt idx="5">
                  <c:v>850</c:v>
                </c:pt>
                <c:pt idx="6">
                  <c:v>790</c:v>
                </c:pt>
                <c:pt idx="7">
                  <c:v>710</c:v>
                </c:pt>
                <c:pt idx="8">
                  <c:v>830</c:v>
                </c:pt>
                <c:pt idx="9">
                  <c:v>810</c:v>
                </c:pt>
                <c:pt idx="10">
                  <c:v>780</c:v>
                </c:pt>
                <c:pt idx="11">
                  <c:v>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46-4654-B806-B4D8FE159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질환 대분류별 비율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비율</c:v>
                </c:pt>
              </c:strCache>
            </c:strRef>
          </c:tx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소화기계</c:v>
                </c:pt>
                <c:pt idx="1">
                  <c:v>근골격계</c:v>
                </c:pt>
                <c:pt idx="2">
                  <c:v>호흡기계</c:v>
                </c:pt>
                <c:pt idx="3">
                  <c:v>순환기계</c:v>
                </c:pt>
                <c:pt idx="4">
                  <c:v>내분비계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20</c:v>
                </c:pt>
                <c:pt idx="2">
                  <c:v>18</c:v>
                </c:pt>
                <c:pt idx="3">
                  <c:v>15</c:v>
                </c:pt>
                <c:pt idx="4">
                  <c:v>10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E6-4B09-A93D-6D6DDB8F54F7}"/>
            </c:ext>
          </c:extLst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KTAS 중증도별 응급 환자 수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환자수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1등급
(소생)</c:v>
                </c:pt>
                <c:pt idx="1">
                  <c:v>2등급
(긴급)</c:v>
                </c:pt>
                <c:pt idx="2">
                  <c:v>3등급
(응급)</c:v>
                </c:pt>
                <c:pt idx="3">
                  <c:v>4등급
(준응급)</c:v>
                </c:pt>
                <c:pt idx="4">
                  <c:v>5등급
(비응급)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180</c:v>
                </c:pt>
                <c:pt idx="2">
                  <c:v>520</c:v>
                </c:pt>
                <c:pt idx="3">
                  <c:v>450</c:v>
                </c:pt>
                <c:pt idx="4">
                  <c:v>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78-42F6-A0EF-510D0F4C87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항목별 만족도 (5점 만점)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의료진 친절도</c:v>
                </c:pt>
                <c:pt idx="1">
                  <c:v>진료 전문성</c:v>
                </c:pt>
                <c:pt idx="2">
                  <c:v>시설 청결도</c:v>
                </c:pt>
                <c:pt idx="3">
                  <c:v>대기 시간</c:v>
                </c:pt>
                <c:pt idx="4">
                  <c:v>설명 충분성</c:v>
                </c:pt>
                <c:pt idx="5">
                  <c:v>식사 품질</c:v>
                </c:pt>
                <c:pt idx="6">
                  <c:v>주차 편의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4.0999999999999996</c:v>
                </c:pt>
                <c:pt idx="1">
                  <c:v>4.3</c:v>
                </c:pt>
                <c:pt idx="2">
                  <c:v>4</c:v>
                </c:pt>
                <c:pt idx="3">
                  <c:v>3.2</c:v>
                </c:pt>
                <c:pt idx="4">
                  <c:v>3.8</c:v>
                </c:pt>
                <c:pt idx="5">
                  <c:v>3.5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0F-47CC-8055-3663E4EF7D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의료진 친절도</c:v>
                </c:pt>
                <c:pt idx="1">
                  <c:v>진료 전문성</c:v>
                </c:pt>
                <c:pt idx="2">
                  <c:v>시설 청결도</c:v>
                </c:pt>
                <c:pt idx="3">
                  <c:v>대기 시간</c:v>
                </c:pt>
                <c:pt idx="4">
                  <c:v>설명 충분성</c:v>
                </c:pt>
                <c:pt idx="5">
                  <c:v>식사 품질</c:v>
                </c:pt>
                <c:pt idx="6">
                  <c:v>주차 편의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4.4000000000000004</c:v>
                </c:pt>
                <c:pt idx="1">
                  <c:v>4.5</c:v>
                </c:pt>
                <c:pt idx="2">
                  <c:v>4.2</c:v>
                </c:pt>
                <c:pt idx="3">
                  <c:v>3.5</c:v>
                </c:pt>
                <c:pt idx="4">
                  <c:v>4.0999999999999996</c:v>
                </c:pt>
                <c:pt idx="5">
                  <c:v>3.8</c:v>
                </c:pt>
                <c:pt idx="6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0F-47CC-8055-3663E4EF7D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감염률 vs 손위생 이행률 추이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병원감염률(%)</c:v>
                </c:pt>
              </c:strCache>
            </c:strRef>
          </c:tx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  <c:pt idx="12">
                  <c:v>1월</c:v>
                </c:pt>
                <c:pt idx="13">
                  <c:v>2월</c:v>
                </c:pt>
                <c:pt idx="14">
                  <c:v>3월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2.8</c:v>
                </c:pt>
                <c:pt idx="1">
                  <c:v>2.5</c:v>
                </c:pt>
                <c:pt idx="2">
                  <c:v>2.2999999999999998</c:v>
                </c:pt>
                <c:pt idx="3">
                  <c:v>2.4</c:v>
                </c:pt>
                <c:pt idx="4">
                  <c:v>2.1</c:v>
                </c:pt>
                <c:pt idx="5">
                  <c:v>2</c:v>
                </c:pt>
                <c:pt idx="6">
                  <c:v>2.2000000000000002</c:v>
                </c:pt>
                <c:pt idx="7">
                  <c:v>2.2999999999999998</c:v>
                </c:pt>
                <c:pt idx="8">
                  <c:v>1.9</c:v>
                </c:pt>
                <c:pt idx="9">
                  <c:v>1.8</c:v>
                </c:pt>
                <c:pt idx="10">
                  <c:v>1.7</c:v>
                </c:pt>
                <c:pt idx="11">
                  <c:v>1.6</c:v>
                </c:pt>
                <c:pt idx="12">
                  <c:v>1.5</c:v>
                </c:pt>
                <c:pt idx="13">
                  <c:v>1.4</c:v>
                </c:pt>
                <c:pt idx="14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46-4236-AACD-3E1D6E98BE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손위생 이행률(%)</c:v>
                </c:pt>
              </c:strCache>
            </c:strRef>
          </c:tx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  <c:pt idx="12">
                  <c:v>1월</c:v>
                </c:pt>
                <c:pt idx="13">
                  <c:v>2월</c:v>
                </c:pt>
                <c:pt idx="14">
                  <c:v>3월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82</c:v>
                </c:pt>
                <c:pt idx="1">
                  <c:v>84</c:v>
                </c:pt>
                <c:pt idx="2">
                  <c:v>85</c:v>
                </c:pt>
                <c:pt idx="3">
                  <c:v>86</c:v>
                </c:pt>
                <c:pt idx="4">
                  <c:v>88</c:v>
                </c:pt>
                <c:pt idx="5">
                  <c:v>89</c:v>
                </c:pt>
                <c:pt idx="6">
                  <c:v>90</c:v>
                </c:pt>
                <c:pt idx="7">
                  <c:v>91</c:v>
                </c:pt>
                <c:pt idx="8">
                  <c:v>92</c:v>
                </c:pt>
                <c:pt idx="9">
                  <c:v>93</c:v>
                </c:pt>
                <c:pt idx="10">
                  <c:v>94</c:v>
                </c:pt>
                <c:pt idx="11">
                  <c:v>95</c:v>
                </c:pt>
                <c:pt idx="12">
                  <c:v>96</c:v>
                </c:pt>
                <c:pt idx="13">
                  <c:v>96</c:v>
                </c:pt>
                <c:pt idx="14">
                  <c:v>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46-4236-AACD-3E1D6E98B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수익/비용 구조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수익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진료수익</c:v>
                </c:pt>
                <c:pt idx="1">
                  <c:v>입원수익</c:v>
                </c:pt>
                <c:pt idx="2">
                  <c:v>건강검진</c:v>
                </c:pt>
                <c:pt idx="3">
                  <c:v>기타수익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62</c:v>
                </c:pt>
                <c:pt idx="2">
                  <c:v>18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10-4F54-B7A2-0FEF17002B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비용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진료수익</c:v>
                </c:pt>
                <c:pt idx="1">
                  <c:v>입원수익</c:v>
                </c:pt>
                <c:pt idx="2">
                  <c:v>건강검진</c:v>
                </c:pt>
                <c:pt idx="3">
                  <c:v>기타수익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</c:v>
                </c:pt>
                <c:pt idx="1">
                  <c:v>50</c:v>
                </c:pt>
                <c:pt idx="2">
                  <c:v>12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10-4F54-B7A2-0FEF17002B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병원 운영 현황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맑은 고딕"/>
              </a:defRPr>
            </a:pPr>
            <a:r>
              <a:t>2026년 1분기 | 샘플종합병원</a:t>
            </a:r>
            <a:br/>
            <a:r>
              <a:t>경영기획실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병원 핵심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1645920"/>
            <a:ext cx="1737360" cy="1463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87.3%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병상 가동률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5487" y="1645920"/>
            <a:ext cx="1737360" cy="1463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12,850명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외래 환자 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7167" y="1645920"/>
            <a:ext cx="17373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2,340명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입원 환자 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8847" y="1645920"/>
            <a:ext cx="1737360" cy="1463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5.2일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평균 재원일수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0527" y="1645920"/>
            <a:ext cx="173736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4.3/5.0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환자 만족도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진료과별 환자 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 (외래 + 입원)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7315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0" y="1828800"/>
          <a:ext cx="3474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진료과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의사 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내과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외과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소아과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정형외과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응급의학과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산부인과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신경과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월별 외래/입원 환자 추이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주요 질병 분류별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ICD-10 기준 상위 질환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371600"/>
          <a:ext cx="5760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ICD코드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질환명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환자수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K29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위염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1,250명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M17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무릎 골관절염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980명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J06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급성 상기도감염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920명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I10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고혈압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E11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제2형 당뇨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780명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G43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편두통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650명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M54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요통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620명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K21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위식도역류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580명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의약품 사용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 주요 처방 약품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17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약품명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처방 건수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단가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총 비용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재고 현황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오메프라졸 20mg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소화기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3,200건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충분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아목시실린 500mg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항생제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2,800건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84만원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충분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이부프로펜 400mg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진통제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2,500건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37.5만원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충분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아토르바스타틴 10mg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고지혈증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1,800건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144만원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주의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메트포르민 500mg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당뇨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1,650건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33만원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충분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수마트립탄 50mg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두통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980건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1,200원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117.6만원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충분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세티리진 10mg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항히스타민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850건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17만원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충분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암로디핀 5mg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고혈압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1,500건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52.5만원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충분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프레드니솔론 5mg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스테로이드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720건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500원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36만원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주의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아세트아미노펜 시럽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해열제(소아)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1,200건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30원/ml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36만원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충분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외래 진료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환자 내원 ~ 귀가 전체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645920" cy="8229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접수</a:t>
            </a:r>
            <a:br/>
            <a:r>
              <a:t>(원무과)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28800"/>
            <a:ext cx="1645920" cy="8229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대기</a:t>
            </a:r>
            <a:br/>
            <a:r>
              <a:t>(진료과)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63440" y="1828800"/>
            <a:ext cx="164592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진료</a:t>
            </a:r>
            <a:br/>
            <a:r>
              <a:t>(담당의)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4340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0" y="1828800"/>
            <a:ext cx="164592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검사</a:t>
            </a:r>
            <a:br/>
            <a:r>
              <a:t>(해당시)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3796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52560" y="1828800"/>
            <a:ext cx="164592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결과확인</a:t>
            </a:r>
            <a:br/>
            <a:r>
              <a:t>(담당의)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3252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247120" y="1828800"/>
            <a:ext cx="164592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수납/처방</a:t>
            </a:r>
            <a:br/>
            <a:r>
              <a:t>(원무과)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92708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474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평균 소요시간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개선방안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접수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무인접수기 확대 (현재 4대 → 8대)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예약제 강화 + 실시간 대기현황 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진료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적정 진료시간 유지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30분~2시간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20분~1시간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검사장비 추가 도입 (CT 1대)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수납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무인수납기 + 모바일 결제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응급실 운영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943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371600"/>
          <a:ext cx="4846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실적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총 내원 환자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1,500명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평균 대기시간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입원 전환율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72시간 재방문율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5% 이하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사망률 (1등급)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10% 이하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평균 체류시간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4.5시간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4시간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이송율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5% 이하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환자 만족도 조사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3월 (응답: 1,250명)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[개선 사항]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endParaRPr/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대기시간 (3.5점):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예약 시스템 개선 중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무인접수기 추가 도입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endParaRPr/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주차 (3.3점):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지하 주차장 증축 계획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2026년 하반기 완공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endParaRPr/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식사 (3.8점):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환자식 메뉴 다양화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영양사 상담 서비스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수술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수술 종류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건수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평균 수술시간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합병증률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재원일수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담당과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무릎 관절경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85건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1.5시간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2.4%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정형외과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맹장 수술(복강경)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외과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담낭 절제술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48건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1.5시간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외과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척추 디스크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정형외과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제왕절개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42건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1시간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산부인과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유방암 수술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2.5시간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외과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갑상선 수술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22건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2시간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외과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7F8C8D"/>
                </a:solidFill>
                <a:latin typeface="맑은 고딕"/>
              </a:defRPr>
            </a:pPr>
            <a:r>
              <a:t>총 수술 건수: 312건 (전년비 +8%). 합병증률 평균 2.2% (목표 3% 이하 달성). 수술 로봇 도입 후 복강경 합병증 30% 감소.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감염 관리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2025.01 ~ 2026.03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7315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[성과]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감염률 2.8% → 1.3%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(15개월간 54% 감소)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endParaRPr/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손위생 이행률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82% → 97%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endParaRPr/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[핵심 요인]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전자 모니터링 도입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월간 피드백 리포트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부서별 경쟁 인센티브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재무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 (단위: 억원)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943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0" y="1371600"/>
          <a:ext cx="4846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금액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전년비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총 수익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170억원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총 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130억원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영업이익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40억원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인건비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78억원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재료비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32억원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감가상각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기타 경비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2분기 개선 계획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CT 장비</a:t>
            </a:r>
            <a:br/>
            <a:r>
              <a:t>도입 (1대)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무인접수기</a:t>
            </a:r>
            <a:br/>
            <a:r>
              <a:t>확대 (4대)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22860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28600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전자처방</a:t>
            </a:r>
            <a:br/>
            <a:r>
              <a:t>시스템 개선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22860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09760" y="1828800"/>
            <a:ext cx="228600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주차장</a:t>
            </a:r>
            <a:br/>
            <a:r>
              <a:t>증축 착공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098280" y="228600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657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과제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예산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기대효과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완료 예정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CT 장비 도입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대기 50% 단축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2026.Q2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무인접수기 확대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0.5억원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접수 대기 3분 이내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2026.04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전자처방 개선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1.2억원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처방 오류 80% 감소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2026.Q2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주차장 증축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주차 200대 → 350대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2026.Q4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867</Words>
  <Application>Microsoft Office PowerPoint</Application>
  <PresentationFormat>와이드스크린</PresentationFormat>
  <Paragraphs>365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모인지</cp:lastModifiedBy>
  <cp:revision>1</cp:revision>
  <dcterms:created xsi:type="dcterms:W3CDTF">2013-01-27T09:14:16Z</dcterms:created>
  <dcterms:modified xsi:type="dcterms:W3CDTF">2026-03-24T08:25:18Z</dcterms:modified>
  <cp:category/>
</cp:coreProperties>
</file>