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부서별 정원 vs 현원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정원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인사팀</c:v>
                </c:pt>
                <c:pt idx="1">
                  <c:v>재무팀</c:v>
                </c:pt>
                <c:pt idx="2">
                  <c:v>총무팀</c:v>
                </c:pt>
                <c:pt idx="3">
                  <c:v>개발1팀</c:v>
                </c:pt>
                <c:pt idx="4">
                  <c:v>개발2팀</c:v>
                </c:pt>
                <c:pt idx="5">
                  <c:v>QA팀</c:v>
                </c:pt>
                <c:pt idx="6">
                  <c:v>데이터팀</c:v>
                </c:pt>
                <c:pt idx="7">
                  <c:v>국내영업</c:v>
                </c:pt>
                <c:pt idx="8">
                  <c:v>해외영업</c:v>
                </c:pt>
                <c:pt idx="9">
                  <c:v>마케팅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8</c:v>
                </c:pt>
                <c:pt idx="2">
                  <c:v>6</c:v>
                </c:pt>
                <c:pt idx="3">
                  <c:v>18</c:v>
                </c:pt>
                <c:pt idx="4">
                  <c:v>15</c:v>
                </c:pt>
                <c:pt idx="5">
                  <c:v>10</c:v>
                </c:pt>
                <c:pt idx="6">
                  <c:v>8</c:v>
                </c:pt>
                <c:pt idx="7">
                  <c:v>15</c:v>
                </c:pt>
                <c:pt idx="8">
                  <c:v>10</c:v>
                </c:pt>
                <c:pt idx="9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현원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인사팀</c:v>
                </c:pt>
                <c:pt idx="1">
                  <c:v>재무팀</c:v>
                </c:pt>
                <c:pt idx="2">
                  <c:v>총무팀</c:v>
                </c:pt>
                <c:pt idx="3">
                  <c:v>개발1팀</c:v>
                </c:pt>
                <c:pt idx="4">
                  <c:v>개발2팀</c:v>
                </c:pt>
                <c:pt idx="5">
                  <c:v>QA팀</c:v>
                </c:pt>
                <c:pt idx="6">
                  <c:v>데이터팀</c:v>
                </c:pt>
                <c:pt idx="7">
                  <c:v>국내영업</c:v>
                </c:pt>
                <c:pt idx="8">
                  <c:v>해외영업</c:v>
                </c:pt>
                <c:pt idx="9">
                  <c:v>마케팅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</c:v>
                </c:pt>
                <c:pt idx="1">
                  <c:v>6</c:v>
                </c:pt>
                <c:pt idx="2">
                  <c:v>5</c:v>
                </c:pt>
                <c:pt idx="3">
                  <c:v>15</c:v>
                </c:pt>
                <c:pt idx="4">
                  <c:v>12</c:v>
                </c:pt>
                <c:pt idx="5">
                  <c:v>8</c:v>
                </c:pt>
                <c:pt idx="6">
                  <c:v>6</c:v>
                </c:pt>
                <c:pt idx="7">
                  <c:v>12</c:v>
                </c:pt>
                <c:pt idx="8">
                  <c:v>8</c:v>
                </c:pt>
                <c:pt idx="9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연간 채용/퇴사 추이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채용 (명)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25</c:v>
                </c:pt>
                <c:pt idx="3">
                  <c:v>22</c:v>
                </c:pt>
                <c:pt idx="4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퇴사 (명)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10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순증 (명)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</c:v>
                </c:pt>
                <c:pt idx="1">
                  <c:v>10</c:v>
                </c:pt>
                <c:pt idx="2">
                  <c:v>15</c:v>
                </c:pt>
                <c:pt idx="3">
                  <c:v>15</c:v>
                </c:pt>
                <c:pt idx="4">
                  <c:v>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과정별 이수율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이수율(%)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리더십</c:v>
                </c:pt>
                <c:pt idx="1">
                  <c:v>기술(Python)</c:v>
                </c:pt>
                <c:pt idx="2">
                  <c:v>기술(AWS)</c:v>
                </c:pt>
                <c:pt idx="3">
                  <c:v>기술(React)</c:v>
                </c:pt>
                <c:pt idx="4">
                  <c:v>데이터분석</c:v>
                </c:pt>
                <c:pt idx="5">
                  <c:v>커뮤니케이션</c:v>
                </c:pt>
                <c:pt idx="6">
                  <c:v>보안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88</c:v>
                </c:pt>
                <c:pt idx="4">
                  <c:v>72</c:v>
                </c:pt>
                <c:pt idx="5">
                  <c:v>95</c:v>
                </c:pt>
                <c:pt idx="6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평가 등급 분포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인원비율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S등급</c:v>
                </c:pt>
                <c:pt idx="1">
                  <c:v>A등급</c:v>
                </c:pt>
                <c:pt idx="2">
                  <c:v>B+등급</c:v>
                </c:pt>
                <c:pt idx="3">
                  <c:v>B등급</c:v>
                </c:pt>
                <c:pt idx="4">
                  <c:v>C등급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20</c:v>
                </c:pt>
                <c:pt idx="2">
                  <c:v>32</c:v>
                </c:pt>
                <c:pt idx="3">
                  <c:v>35</c:v>
                </c:pt>
                <c:pt idx="4">
                  <c:v>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항목별 만족도 (5점 만점)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급여/보상</c:v>
                </c:pt>
                <c:pt idx="1">
                  <c:v>복리후생</c:v>
                </c:pt>
                <c:pt idx="2">
                  <c:v>업무환경</c:v>
                </c:pt>
                <c:pt idx="3">
                  <c:v>성장기회</c:v>
                </c:pt>
                <c:pt idx="4">
                  <c:v>조직문화</c:v>
                </c:pt>
                <c:pt idx="5">
                  <c:v>리더십</c:v>
                </c:pt>
                <c:pt idx="6">
                  <c:v>워라밸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3.8</c:v>
                </c:pt>
                <c:pt idx="1">
                  <c:v>4.0</c:v>
                </c:pt>
                <c:pt idx="2">
                  <c:v>4.1</c:v>
                </c:pt>
                <c:pt idx="3">
                  <c:v>3.9</c:v>
                </c:pt>
                <c:pt idx="4">
                  <c:v>4.0</c:v>
                </c:pt>
                <c:pt idx="5">
                  <c:v>3.7</c:v>
                </c:pt>
                <c:pt idx="6">
                  <c:v>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급여/보상</c:v>
                </c:pt>
                <c:pt idx="1">
                  <c:v>복리후생</c:v>
                </c:pt>
                <c:pt idx="2">
                  <c:v>업무환경</c:v>
                </c:pt>
                <c:pt idx="3">
                  <c:v>성장기회</c:v>
                </c:pt>
                <c:pt idx="4">
                  <c:v>조직문화</c:v>
                </c:pt>
                <c:pt idx="5">
                  <c:v>리더십</c:v>
                </c:pt>
                <c:pt idx="6">
                  <c:v>워라밸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4.0</c:v>
                </c:pt>
                <c:pt idx="1">
                  <c:v>4.3</c:v>
                </c:pt>
                <c:pt idx="2">
                  <c:v>4.2</c:v>
                </c:pt>
                <c:pt idx="3">
                  <c:v>4.1</c:v>
                </c:pt>
                <c:pt idx="4">
                  <c:v>4.3</c:v>
                </c:pt>
                <c:pt idx="5">
                  <c:v>3.9</c:v>
                </c:pt>
                <c:pt idx="6">
                  <c:v>4.5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성별 비율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성별비율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남성</c:v>
                </c:pt>
                <c:pt idx="1">
                  <c:v>여성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연령대 분포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연령대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42</c:v>
                </c:pt>
                <c:pt idx="2">
                  <c:v>25</c:v>
                </c:pt>
                <c:pt idx="3">
                  <c:v>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인사관리 현황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맑은 고딕"/>
              </a:defRPr>
            </a:pPr>
            <a:r>
              <a:t>2026년 1분기 | 인사팀</a:t>
            </a:r>
            <a:br/>
            <a:r>
              <a:t>기밀 - 내부 공유용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인사 핵심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807" y="1645920"/>
            <a:ext cx="1737360" cy="1463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127명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총 인원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5487" y="1645920"/>
            <a:ext cx="173736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18명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신규 채용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7167" y="1645920"/>
            <a:ext cx="1737360" cy="1463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4.7%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퇴사율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8847" y="1645920"/>
            <a:ext cx="1737360" cy="1463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89%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교육 이수율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0527" y="1645920"/>
            <a:ext cx="1737360" cy="146304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4.2/5.0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직원 만족도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조직도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3월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90007" y="1280160"/>
            <a:ext cx="2011680" cy="77724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김대표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대표이사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2743200"/>
            <a:ext cx="2011680" cy="7772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경영지원본부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박인사 본부장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90007" y="2743200"/>
            <a:ext cx="201168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기술본부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최기술 본부장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76007" y="2743200"/>
            <a:ext cx="2011680" cy="777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영업본부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임영업 본부장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-2910992" y="4206240"/>
            <a:ext cx="2011680" cy="7772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인사팀 (8명)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박인사 팀장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624992" y="4206240"/>
            <a:ext cx="2011680" cy="7772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재무팀 (6명)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이재무 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61007" y="4206240"/>
            <a:ext cx="2011680" cy="7772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총무팀 (5명)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김총무 팀장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47007" y="4206240"/>
            <a:ext cx="201168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개발1팀 (15명)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정개발 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206240"/>
            <a:ext cx="201168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개발2팀 (12명)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서개발 팀장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19007" y="4206240"/>
            <a:ext cx="201168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QA팀 (8명)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송QA 팀장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05007" y="4206240"/>
            <a:ext cx="2011680" cy="777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국내영업 (12명)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임영업 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091007" y="4206240"/>
            <a:ext cx="2011680" cy="777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해외영업 (8명)</a:t>
            </a:r>
          </a:p>
          <a:p>
            <a:pPr algn="ctr">
              <a:defRPr sz="900">
                <a:solidFill>
                  <a:srgbClr val="DDDDDD"/>
                </a:solidFill>
                <a:latin typeface="맑은 고딕"/>
              </a:defRPr>
            </a:pPr>
            <a:r>
              <a:t>오해외 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부서별 인원 현황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0" y="1645920"/>
          <a:ext cx="3931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부서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충원율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인사팀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재무팀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개발1팀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개발2팀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QA팀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국내영업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해외영업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직급별 연봉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기준 (단위: 만원)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17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1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직급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평균 연봉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최저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전년비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업계 대비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임원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상위 30%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본부장/팀장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상위 25%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시니어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28명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7,500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6,500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8,500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+7%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상위 20%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대리/과장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평균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주니어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32명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4,800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4,200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5,500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상위 15%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상위 10%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7F8C8D"/>
                </a:solidFill>
                <a:latin typeface="맑은 고딕"/>
              </a:defRPr>
            </a:pPr>
            <a:r>
              <a:t>* 주니어/인턴 인상률이 높은 것은 시장 경쟁력 확보를 위한 전략적 판단. 전체 인건비 예산 전년비 +6.5% 증가.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채용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전체 리드타임: 평균 28일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645920" cy="8229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채용 요청</a:t>
            </a:r>
            <a:br/>
            <a:r>
              <a:t>(부서장)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828800"/>
            <a:ext cx="164592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서류 심사</a:t>
            </a:r>
            <a:br/>
            <a:r>
              <a:t>(인사팀)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828800"/>
            <a:ext cx="164592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1차 면접</a:t>
            </a:r>
            <a:br/>
            <a:r>
              <a:t>(실무진)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4340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1828800"/>
            <a:ext cx="164592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2차 면접</a:t>
            </a:r>
            <a:br/>
            <a:r>
              <a:t>(임원)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3796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52560" y="1828800"/>
            <a:ext cx="164592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처우 협상</a:t>
            </a:r>
            <a:br/>
            <a:r>
              <a:t>(인사팀)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3252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247120" y="1828800"/>
            <a:ext cx="1645920" cy="82296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입사</a:t>
            </a:r>
            <a:br/>
            <a:r>
              <a:t>(온보딩)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92708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474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소요일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통과율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담당자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평가 항목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서류 심사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인사팀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학력, 경력, 포트폴리오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1차 면접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실무 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기술 역량, 문제 해결력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2차 면접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본부장/임원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조직 적합성, 리더십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처우 협상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인사팀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연봉, 복리후생, 입사일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온보딩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멘토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장비, 계정, OJT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연간 채용/퇴사 추이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2022~2026 (1분기 기준)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[채용 현황]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2026년 1분기: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신규 채용: 18명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퇴사: 6명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순증: 12명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[퇴사 사유 분석]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이직: 3명 (50%)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개인사유: 2명 (33%)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계약만료: 1명 (17%)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자발적 퇴사율: 4.7%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(업계 평균 8.2%)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교육 이수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943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6459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교육 과정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대상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이수/대상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평균 점수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리더십 워크숍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팀장급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11/12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85점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Python 고급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개발자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88점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AWS 자격증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인프라팀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6/8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92점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React 심화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프론트엔드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90점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데이터 분석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전직원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82/114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78점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보안 교육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전직원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127/127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95점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2025년 하반기 인사평가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등급 분포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등급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연봉인상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인센티브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S (상위 5%)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300%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A (상위 25%)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200%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B+ (상위 55%)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B (상위 90%)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C (하위 10%)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동결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PIP 대상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직원 만족도 조사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3월 실시 (응답률 91%)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[YoY 개선 항목]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복리후생: +0.3점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(식대/교육비 인상 효과)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워라밸: +0.3점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(재택근무 확대 효과)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[개선 필요]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리더십: 3.9점 (최저)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→ 리더십 코칭 프로그램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   2분기 도입 예정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다양성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3월 기준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3657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389120" y="1371600"/>
          <a:ext cx="36576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02920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목표 (2026말)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업계 평균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여성 관리자 비율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장애인 고용률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핵심 인재 리텐션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성과-이탈 위험 매트릭스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2057400" cy="2057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고성과 / 저위험</a:t>
            </a:r>
            <a:br/>
            <a:r>
              <a:t>(Star)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보상 강화</a:t>
            </a:r>
            <a:br/>
            <a:r>
              <a:t>RSU 부여</a:t>
            </a:r>
            <a:br/>
            <a:r>
              <a:t>핵심 프로젝트 배치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2057400" cy="2057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고성과 / 고위험</a:t>
            </a:r>
            <a:br/>
            <a:r>
              <a:t>(Risk)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즉시 면담</a:t>
            </a:r>
            <a:br/>
            <a:r>
              <a:t>처우 개선</a:t>
            </a:r>
            <a:br/>
            <a:r>
              <a:t>경력 경로 제시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2057400" cy="20574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저성과 / 저위험</a:t>
            </a:r>
            <a:br/>
            <a:r>
              <a:t>(Steady)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역량 개발</a:t>
            </a:r>
            <a:br/>
            <a:r>
              <a:t>멘토링</a:t>
            </a:r>
            <a:br/>
            <a:r>
              <a:t>직무 전환 검토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657600"/>
            <a:ext cx="2057400" cy="20574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저성과 / 고위험</a:t>
            </a:r>
            <a:br/>
            <a:r>
              <a:t>(Exit)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PIP 진행</a:t>
            </a:r>
            <a:br/>
            <a:r>
              <a:t>직무 재배치</a:t>
            </a:r>
            <a:br/>
            <a:r>
              <a:t>원만한 전환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[현황 분석]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Star (42명, 33%):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핵심 개발자 및 영업 에이스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Risk (8명, 6%):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시니어 개발자 3명 이직 의향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→ 긴급 처우 개선 진행 중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Steady (62명, 49%):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안정적, 교육 투자 효과 높음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Exit (15명, 12%):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PIP 5명 진행 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2026년 인사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주요 이벤트 타임라인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10058400" cy="54864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084832"/>
            <a:ext cx="274320" cy="2743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86C1"/>
                </a:solidFill>
                <a:latin typeface="맑은 고딕"/>
              </a:defRPr>
            </a:pPr>
            <a:r>
              <a:t>1월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9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연봉 협상</a:t>
            </a:r>
            <a:br/>
            <a:r>
              <a:t>인사평가 피드백</a:t>
            </a:r>
          </a:p>
        </p:txBody>
      </p:sp>
      <p:sp>
        <p:nvSpPr>
          <p:cNvPr id="9" name="Oval 8"/>
          <p:cNvSpPr/>
          <p:nvPr/>
        </p:nvSpPr>
        <p:spPr>
          <a:xfrm>
            <a:off x="3319272" y="2084832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3월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상반기 채용</a:t>
            </a:r>
            <a:br/>
            <a:r>
              <a:t>교육 계획</a:t>
            </a:r>
          </a:p>
        </p:txBody>
      </p:sp>
      <p:sp>
        <p:nvSpPr>
          <p:cNvPr id="12" name="Oval 11"/>
          <p:cNvSpPr/>
          <p:nvPr/>
        </p:nvSpPr>
        <p:spPr>
          <a:xfrm>
            <a:off x="5833872" y="2084832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  <a:latin typeface="맑은 고딕"/>
              </a:defRPr>
            </a:pPr>
            <a:r>
              <a:t>6월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상반기 평가</a:t>
            </a:r>
            <a:br/>
            <a:r>
              <a:t>인턴 채용</a:t>
            </a:r>
          </a:p>
        </p:txBody>
      </p:sp>
      <p:sp>
        <p:nvSpPr>
          <p:cNvPr id="15" name="Oval 14"/>
          <p:cNvSpPr/>
          <p:nvPr/>
        </p:nvSpPr>
        <p:spPr>
          <a:xfrm>
            <a:off x="8348472" y="2084832"/>
            <a:ext cx="274320" cy="2743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맑은 고딕"/>
              </a:defRPr>
            </a:pPr>
            <a:r>
              <a:t>9월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하반기 채용</a:t>
            </a:r>
            <a:br/>
            <a:r>
              <a:t>리더십 워크숍</a:t>
            </a:r>
          </a:p>
        </p:txBody>
      </p:sp>
      <p:sp>
        <p:nvSpPr>
          <p:cNvPr id="18" name="Oval 17"/>
          <p:cNvSpPr/>
          <p:nvPr/>
        </p:nvSpPr>
        <p:spPr>
          <a:xfrm>
            <a:off x="10863072" y="2084832"/>
            <a:ext cx="274320" cy="2743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맑은 고딕"/>
              </a:defRPr>
            </a:pPr>
            <a:r>
              <a:t>12월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560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하반기 평가</a:t>
            </a:r>
            <a:br/>
            <a:r>
              <a:t>승진 심사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[2분기 중점 과제]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  1. 상반기 인사평가 준비 (5월 평가, 6월 피드백)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  2. 하계 인턴십 프로그램 (6~8월, 15명 선발)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  3. 리더십 코칭 프로그램 론칭 (4월, 팀장급 대상)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  4. 개발팀 충원 (시니어 3명, 주니어 5명)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  5. 보안 교육 리프레시 (전직원 대상, 5월)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요약 및 의사결정 사항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안건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제안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예산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시니어 개발자 처우 개선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3명 이탈 위험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연봉 10% 인상 + RSU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1.5억원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승인 요청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하계 인턴십 확대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작년 10명 → 15명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15명 선발, 8주 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0.8억원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승인 요청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리더십 코칭 프로그램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만족도 최저 항목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외부 코치 6개월 계약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0.5억원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승인 요청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신규 복리후생 (육아지원)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워킹맘 만족도 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어린이집 제휴 + 유연근무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0.3억원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검토 요청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사무실 확장 (8층 추가)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좌석 95% 사용률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8층 임차 + 인테리어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2.0억원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검토 요청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