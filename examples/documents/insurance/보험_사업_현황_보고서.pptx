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상품별 수입보험료 비중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보험료비중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종합보험</c:v>
                </c:pt>
                <c:pt idx="1">
                  <c:v>암보험</c:v>
                </c:pt>
                <c:pt idx="2">
                  <c:v>실손의료</c:v>
                </c:pt>
                <c:pt idx="3">
                  <c:v>운전자보험</c:v>
                </c:pt>
                <c:pt idx="4">
                  <c:v>연금보험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20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분기별 손해율 추이 (자사 vs 업계)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손해율(%)</c:v>
                </c:pt>
              </c:strCache>
            </c:strRef>
          </c:tx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2022.Q1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2023.Q1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2024.Q1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2025.Q1</c:v>
                </c:pt>
                <c:pt idx="13">
                  <c:v>Q2</c:v>
                </c:pt>
                <c:pt idx="14">
                  <c:v>Q3</c:v>
                </c:pt>
                <c:pt idx="15">
                  <c:v>Q4</c:v>
                </c:pt>
                <c:pt idx="16">
                  <c:v>2026.Q1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72</c:v>
                </c:pt>
                <c:pt idx="1">
                  <c:v>70</c:v>
                </c:pt>
                <c:pt idx="2">
                  <c:v>68</c:v>
                </c:pt>
                <c:pt idx="3">
                  <c:v>71</c:v>
                </c:pt>
                <c:pt idx="4">
                  <c:v>69</c:v>
                </c:pt>
                <c:pt idx="5">
                  <c:v>67</c:v>
                </c:pt>
                <c:pt idx="6">
                  <c:v>66</c:v>
                </c:pt>
                <c:pt idx="7">
                  <c:v>68</c:v>
                </c:pt>
                <c:pt idx="8">
                  <c:v>67</c:v>
                </c:pt>
                <c:pt idx="9">
                  <c:v>65</c:v>
                </c:pt>
                <c:pt idx="10">
                  <c:v>64</c:v>
                </c:pt>
                <c:pt idx="11">
                  <c:v>66</c:v>
                </c:pt>
                <c:pt idx="12">
                  <c:v>65</c:v>
                </c:pt>
                <c:pt idx="13">
                  <c:v>64</c:v>
                </c:pt>
                <c:pt idx="14">
                  <c:v>63</c:v>
                </c:pt>
                <c:pt idx="15">
                  <c:v>65</c:v>
                </c:pt>
                <c:pt idx="16">
                  <c:v>65.6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업계평균(%)</c:v>
                </c:pt>
              </c:strCache>
            </c:strRef>
          </c:tx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2022.Q1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2023.Q1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2024.Q1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2025.Q1</c:v>
                </c:pt>
                <c:pt idx="13">
                  <c:v>Q2</c:v>
                </c:pt>
                <c:pt idx="14">
                  <c:v>Q3</c:v>
                </c:pt>
                <c:pt idx="15">
                  <c:v>Q4</c:v>
                </c:pt>
                <c:pt idx="16">
                  <c:v>2026.Q1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75</c:v>
                </c:pt>
                <c:pt idx="1">
                  <c:v>74</c:v>
                </c:pt>
                <c:pt idx="2">
                  <c:v>72</c:v>
                </c:pt>
                <c:pt idx="3">
                  <c:v>74</c:v>
                </c:pt>
                <c:pt idx="4">
                  <c:v>73</c:v>
                </c:pt>
                <c:pt idx="5">
                  <c:v>71</c:v>
                </c:pt>
                <c:pt idx="6">
                  <c:v>70</c:v>
                </c:pt>
                <c:pt idx="7">
                  <c:v>72</c:v>
                </c:pt>
                <c:pt idx="8">
                  <c:v>71</c:v>
                </c:pt>
                <c:pt idx="9">
                  <c:v>69</c:v>
                </c:pt>
                <c:pt idx="10">
                  <c:v>68</c:v>
                </c:pt>
                <c:pt idx="11">
                  <c:v>70</c:v>
                </c:pt>
                <c:pt idx="12">
                  <c:v>69</c:v>
                </c:pt>
                <c:pt idx="13">
                  <c:v>68</c:v>
                </c:pt>
                <c:pt idx="14">
                  <c:v>67</c:v>
                </c:pt>
                <c:pt idx="15">
                  <c:v>69</c:v>
                </c:pt>
                <c:pt idx="16">
                  <c:v>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채널별 실적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신계약(건)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전속 설계사</c:v>
                </c:pt>
                <c:pt idx="1">
                  <c:v>GA (법인대리점)</c:v>
                </c:pt>
                <c:pt idx="2">
                  <c:v>방카슈랑스</c:v>
                </c:pt>
                <c:pt idx="3">
                  <c:v>온라인 직판</c:v>
                </c:pt>
                <c:pt idx="4">
                  <c:v>TM (텔레마케팅)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8500</c:v>
                </c:pt>
                <c:pt idx="1">
                  <c:v>4200</c:v>
                </c:pt>
                <c:pt idx="2">
                  <c:v>2800</c:v>
                </c:pt>
                <c:pt idx="3">
                  <c:v>2000</c:v>
                </c:pt>
                <c:pt idx="4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수입보험료(억원)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전속 설계사</c:v>
                </c:pt>
                <c:pt idx="1">
                  <c:v>GA (법인대리점)</c:v>
                </c:pt>
                <c:pt idx="2">
                  <c:v>방카슈랑스</c:v>
                </c:pt>
                <c:pt idx="3">
                  <c:v>온라인 직판</c:v>
                </c:pt>
                <c:pt idx="4">
                  <c:v>TM (텔레마케팅)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520</c:v>
                </c:pt>
                <c:pt idx="1">
                  <c:v>310</c:v>
                </c:pt>
                <c:pt idx="2">
                  <c:v>220</c:v>
                </c:pt>
                <c:pt idx="3">
                  <c:v>120</c:v>
                </c:pt>
                <c:pt idx="4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보험금 유형별 비중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지급비중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입원비</c:v>
                </c:pt>
                <c:pt idx="1">
                  <c:v>수술비</c:v>
                </c:pt>
                <c:pt idx="2">
                  <c:v>진단비</c:v>
                </c:pt>
                <c:pt idx="3">
                  <c:v>통원비</c:v>
                </c:pt>
                <c:pt idx="4">
                  <c:v>사망보험금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회차별 유지율 추이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1회차</c:v>
                </c:pt>
                <c:pt idx="1">
                  <c:v>3회차</c:v>
                </c:pt>
                <c:pt idx="2">
                  <c:v>6회차</c:v>
                </c:pt>
                <c:pt idx="3">
                  <c:v>12회차</c:v>
                </c:pt>
                <c:pt idx="4">
                  <c:v>13회차</c:v>
                </c:pt>
                <c:pt idx="5">
                  <c:v>24회차</c:v>
                </c:pt>
                <c:pt idx="6">
                  <c:v>25회차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99.5</c:v>
                </c:pt>
                <c:pt idx="1">
                  <c:v>97.8</c:v>
                </c:pt>
                <c:pt idx="2">
                  <c:v>95.2</c:v>
                </c:pt>
                <c:pt idx="3">
                  <c:v>91.5</c:v>
                </c:pt>
                <c:pt idx="4">
                  <c:v>89.2</c:v>
                </c:pt>
                <c:pt idx="5">
                  <c:v>85.3</c:v>
                </c:pt>
                <c:pt idx="6">
                  <c:v>83.8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업계평균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1회차</c:v>
                </c:pt>
                <c:pt idx="1">
                  <c:v>3회차</c:v>
                </c:pt>
                <c:pt idx="2">
                  <c:v>6회차</c:v>
                </c:pt>
                <c:pt idx="3">
                  <c:v>12회차</c:v>
                </c:pt>
                <c:pt idx="4">
                  <c:v>13회차</c:v>
                </c:pt>
                <c:pt idx="5">
                  <c:v>24회차</c:v>
                </c:pt>
                <c:pt idx="6">
                  <c:v>25회차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99.2</c:v>
                </c:pt>
                <c:pt idx="1">
                  <c:v>96.5</c:v>
                </c:pt>
                <c:pt idx="2">
                  <c:v>93.0</c:v>
                </c:pt>
                <c:pt idx="3">
                  <c:v>88.0</c:v>
                </c:pt>
                <c:pt idx="4">
                  <c:v>85.5</c:v>
                </c:pt>
                <c:pt idx="5">
                  <c:v>80.0</c:v>
                </c:pt>
                <c:pt idx="6">
                  <c:v>78.0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디지털 전환 진행률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도입률(%)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모바일 청약</c:v>
                </c:pt>
                <c:pt idx="1">
                  <c:v>AI 심사</c:v>
                </c:pt>
                <c:pt idx="2">
                  <c:v>챗봇 상담</c:v>
                </c:pt>
                <c:pt idx="3">
                  <c:v>전자 서명</c:v>
                </c:pt>
                <c:pt idx="4">
                  <c:v>OCR 접수</c:v>
                </c:pt>
                <c:pt idx="5">
                  <c:v>마이데이터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40</c:v>
                </c:pt>
                <c:pt idx="2">
                  <c:v>65</c:v>
                </c:pt>
                <c:pt idx="3">
                  <c:v>92</c:v>
                </c:pt>
                <c:pt idx="4">
                  <c:v>60</c:v>
                </c:pt>
                <c:pt idx="5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모바일 청약</c:v>
                </c:pt>
                <c:pt idx="1">
                  <c:v>AI 심사</c:v>
                </c:pt>
                <c:pt idx="2">
                  <c:v>챗봇 상담</c:v>
                </c:pt>
                <c:pt idx="3">
                  <c:v>전자 서명</c:v>
                </c:pt>
                <c:pt idx="4">
                  <c:v>OCR 접수</c:v>
                </c:pt>
                <c:pt idx="5">
                  <c:v>마이데이터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70</c:v>
                </c:pt>
                <c:pt idx="2">
                  <c:v>80</c:v>
                </c:pt>
                <c:pt idx="3">
                  <c:v>98</c:v>
                </c:pt>
                <c:pt idx="4">
                  <c:v>85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보험 사업 현황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2026년 1분기 | 샘플생명보험</a:t>
            </a:r>
            <a:br/>
            <a:r>
              <a:t>경영전략팀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1분기 핵심 성과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64592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1,250억원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수입 보험료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64592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18,500건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신계약 건수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645920"/>
            <a:ext cx="1737360" cy="1463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820억원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보험금 지급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64592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65.6%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손해율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64592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89.2%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13회차 유지율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상품별 수입 보험료 구성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보험료(억원)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전년비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신계약비율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종합보험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암보험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실손의료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운전자보험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연금보험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보험금 청구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접수 ~ 지급 전체 흐름 (목표: 3영업일)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사고 접수</a:t>
            </a:r>
            <a:br/>
            <a:r>
              <a:t>(고객)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2880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서류 접수</a:t>
            </a:r>
            <a:br/>
            <a:r>
              <a:t>(콜센터/앱)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심사</a:t>
            </a:r>
            <a:br/>
            <a:r>
              <a:t>(손해사정)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340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의료자문</a:t>
            </a:r>
            <a:br/>
            <a:r>
              <a:t>(필요시)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6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지급 결정</a:t>
            </a:r>
            <a:br/>
            <a:r>
              <a:t>(심사팀)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47120" y="1828800"/>
            <a:ext cx="1645920" cy="82296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보험금 지급</a:t>
            </a:r>
            <a:br/>
            <a:r>
              <a:t>(재무팀)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92708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474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소요시간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자동화율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개선계획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사고 접수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즉시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 (앱)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 챗봇 접수 도입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서류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1~2일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60% (OCR)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OCR 정확도 95% 목표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심사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1~2일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 자동심사 확대 (소액)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의료 자문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2~3일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텔레메디슨 자문 도입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지급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0.5일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실시간 이체 시스템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손해율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2022 ~ 2026.Q1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[분석]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자사 손해율: 65.6%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업계 평균: 68.0%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차이: -2.4%p (양호)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[요인]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1. 언더라이팅 강화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2. 보험사기 탐지 AI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3. 건강관리 프로그램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설계사 채널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채널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설계사수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1인당생산성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유지율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1,200명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4,333만원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3,875만원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방카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6,286만원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온라인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TM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5,333만원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보험금 지급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총 820억원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지급액(억원)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건수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건당평균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입원비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12,500건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197만원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수술비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3,800건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539만원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진단비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820건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2,000만원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통원비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45,000건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2.2만원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사망보험금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65건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1.02억원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2,100건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195만원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보험사기 탐지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AI 기반 이상탐지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2057400" cy="2057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자동 승인</a:t>
            </a:r>
            <a:br/>
            <a:r>
              <a:t>(정상)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소액 청구</a:t>
            </a:r>
            <a:br/>
            <a:r>
              <a:t>서류 완비</a:t>
            </a:r>
            <a:br/>
            <a:r>
              <a:t>패턴 정상</a:t>
            </a:r>
            <a:br/>
            <a:r>
              <a:t>→ 즉시 지급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057400" cy="2057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수동 심사</a:t>
            </a:r>
            <a:br/>
            <a:r>
              <a:t>(주의)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고액 청구</a:t>
            </a:r>
            <a:br/>
            <a:r>
              <a:t>복합 질환</a:t>
            </a:r>
            <a:br/>
            <a:r>
              <a:t>빈번 청구</a:t>
            </a:r>
            <a:br/>
            <a:r>
              <a:t>→ 심사팀 배정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2057400" cy="2057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 정상</a:t>
            </a:r>
            <a:br/>
            <a:r>
              <a:t>(모니터링)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정상 패턴</a:t>
            </a:r>
            <a:br/>
            <a:r>
              <a:t>신규 계약</a:t>
            </a:r>
            <a:br/>
            <a:r>
              <a:t>→ 데이터 축적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657600"/>
            <a:ext cx="2057400" cy="2057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사기 의심</a:t>
            </a:r>
            <a:br/>
            <a:r>
              <a:t>(조사)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패턴 이상</a:t>
            </a:r>
            <a:br/>
            <a:r>
              <a:t>허위 서류</a:t>
            </a:r>
            <a:br/>
            <a:r>
              <a:t>공모 의심</a:t>
            </a:r>
            <a:br/>
            <a:r>
              <a:t>→ SIU 조사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[1분기 실적]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AI 탐지 건수: 342건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실제 사기 확인: 85건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적중률: 24.9%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절감 금액: 42억원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[사기 유형]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허위 입원: 35건 (41%)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진단서 위조: 22건 (26%)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사고 조작: 15건 (18%)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공모 청구: 13건 (15%)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계약 유지율 분석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디지털 전환 현황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투자액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모바일 청약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 심사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챗봇 상담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OCR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210%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마이데이터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진행중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2026년 사업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9144000" cy="54864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61872" y="2084832"/>
            <a:ext cx="274320" cy="2743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AI 심사 v2</a:t>
            </a:r>
            <a:br/>
            <a:r>
              <a:t>사기탐지 강화</a:t>
            </a:r>
          </a:p>
        </p:txBody>
      </p:sp>
      <p:sp>
        <p:nvSpPr>
          <p:cNvPr id="8" name="Oval 7"/>
          <p:cNvSpPr/>
          <p:nvPr/>
        </p:nvSpPr>
        <p:spPr>
          <a:xfrm>
            <a:off x="4309872" y="2084832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09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80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마이데이터</a:t>
            </a:r>
            <a:br/>
            <a:r>
              <a:t>연동 확대</a:t>
            </a:r>
          </a:p>
        </p:txBody>
      </p:sp>
      <p:sp>
        <p:nvSpPr>
          <p:cNvPr id="11" name="Oval 10"/>
          <p:cNvSpPr/>
          <p:nvPr/>
        </p:nvSpPr>
        <p:spPr>
          <a:xfrm>
            <a:off x="7357872" y="2084832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89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0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건강관리 앱</a:t>
            </a:r>
            <a:br/>
            <a:r>
              <a:t>출시</a:t>
            </a:r>
          </a:p>
        </p:txBody>
      </p:sp>
      <p:sp>
        <p:nvSpPr>
          <p:cNvPr id="14" name="Oval 13"/>
          <p:cNvSpPr/>
          <p:nvPr/>
        </p:nvSpPr>
        <p:spPr>
          <a:xfrm>
            <a:off x="10405872" y="2084832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해외 재보험</a:t>
            </a:r>
            <a:br/>
            <a:r>
              <a:t>포트폴리오 최적화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[연간 목표]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수입보험료: 5,200억원 (+8%) | 신계약: 80,000건 | 손해율: 64% 이하 | 13회차 유지율: 90%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[핵심 전략]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1. AI 언더라이팅 확대 — 심사 자동화율 40% → 70%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2. 건강관리 연계 상품 — 운동/식단 관리 앱 + 보험료 할인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3. MZ세대 타겟 미니보험 — 월 1만원대 소액 상품 5종 출시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4. ESG 경영 — 그린본드 투자 + 탄소중립 보험 상품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의사결정 요청 사항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안건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 심사 고도화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심사 자동화 70% 확대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인건비 20억 절감/년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승인요청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건강관리 앱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헬스케어 연계 서비스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신계약 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승인요청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미니보험 5종 출시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MZ세대 신시장 개척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신규 가입 5만건/년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승인요청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해외 재보험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리스크 분산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비용 중립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손해율 -2%p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검토요청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