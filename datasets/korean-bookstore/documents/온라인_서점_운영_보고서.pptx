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300">
                <a:latin typeface="맑은 고딕"/>
              </a:defRPr>
            </a:pPr>
            <a:r>
              <a:t>장르별 판매 비중 (%)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판매비중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소설</c:v>
                </c:pt>
                <c:pt idx="1">
                  <c:v>자기계발</c:v>
                </c:pt>
                <c:pt idx="2">
                  <c:v>에세이</c:v>
                </c:pt>
                <c:pt idx="3">
                  <c:v>과학/기술</c:v>
                </c:pt>
                <c:pt idx="4">
                  <c:v>역사</c:v>
                </c:pt>
                <c:pt idx="5">
                  <c:v>어린이</c:v>
                </c:pt>
                <c:pt idx="6">
                  <c:v>만화</c:v>
                </c:pt>
                <c:pt idx="7">
                  <c:v>기타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28</c:v>
                </c:pt>
                <c:pt idx="1">
                  <c:v>18</c:v>
                </c:pt>
                <c:pt idx="2">
                  <c:v>15</c:v>
                </c:pt>
                <c:pt idx="3">
                  <c:v>12</c:v>
                </c:pt>
                <c:pt idx="4">
                  <c:v>8</c:v>
                </c:pt>
                <c:pt idx="5">
                  <c:v>8</c:v>
                </c:pt>
                <c:pt idx="6">
                  <c:v>6</c:v>
                </c:pt>
                <c:pt idx="7">
                  <c:v>5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000">
                  <a:latin typeface="맑은 고딕"/>
                </a:defRPr>
              </a:pPr>
            </a:p>
          </c:txPr>
          <c:showLegendKey val="0"/>
          <c:showVal val="1"/>
          <c:showCatName val="1"/>
          <c:showSerName val="0"/>
          <c:showPercent val="1"/>
          <c:showBubbleSize val="0"/>
          <c:showLeaderLines val="1"/>
        </c:dLbls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300">
                <a:latin typeface="맑은 고딕"/>
              </a:defRPr>
            </a:pPr>
            <a:r>
              <a:t>월별 매출 추이 (억원)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2025년(억원)</c:v>
                </c:pt>
              </c:strCache>
            </c:strRef>
          </c:tx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  <c:pt idx="8">
                  <c:v>9월</c:v>
                </c:pt>
                <c:pt idx="9">
                  <c:v>10월</c:v>
                </c:pt>
                <c:pt idx="10">
                  <c:v>11월</c:v>
                </c:pt>
                <c:pt idx="11">
                  <c:v>12월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8.5</c:v>
                </c:pt>
                <c:pt idx="1">
                  <c:v>7.8</c:v>
                </c:pt>
                <c:pt idx="2">
                  <c:v>9.2</c:v>
                </c:pt>
                <c:pt idx="3">
                  <c:v>8.0</c:v>
                </c:pt>
                <c:pt idx="4">
                  <c:v>8.5</c:v>
                </c:pt>
                <c:pt idx="5">
                  <c:v>9.0</c:v>
                </c:pt>
                <c:pt idx="6">
                  <c:v>7.5</c:v>
                </c:pt>
                <c:pt idx="7">
                  <c:v>8.0</c:v>
                </c:pt>
                <c:pt idx="8">
                  <c:v>9.5</c:v>
                </c:pt>
                <c:pt idx="9">
                  <c:v>10.0</c:v>
                </c:pt>
                <c:pt idx="10">
                  <c:v>11.5</c:v>
                </c:pt>
                <c:pt idx="11">
                  <c:v>14.0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2026년(억원)</c:v>
                </c:pt>
              </c:strCache>
            </c:strRef>
          </c:tx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  <c:pt idx="8">
                  <c:v>9월</c:v>
                </c:pt>
                <c:pt idx="9">
                  <c:v>10월</c:v>
                </c:pt>
                <c:pt idx="10">
                  <c:v>11월</c:v>
                </c:pt>
                <c:pt idx="11">
                  <c:v>12월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11.5</c:v>
                </c:pt>
                <c:pt idx="1">
                  <c:v>12.0</c:v>
                </c:pt>
                <c:pt idx="2">
                  <c:v>15.0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>
              <a:latin typeface="맑은 고딕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300">
                <a:latin typeface="맑은 고딕"/>
              </a:defRPr>
            </a:pPr>
            <a:r>
              <a:t>TOP 7 작가 실적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판매부수(천부)</c:v>
                </c:pt>
              </c:strCache>
            </c:strRef>
          </c:tx>
          <c:cat>
            <c:strRef>
              <c:f>Sheet1!$A$2:$A$8</c:f>
              <c:strCache>
                <c:ptCount val="7"/>
                <c:pt idx="0">
                  <c:v>한강</c:v>
                </c:pt>
                <c:pt idx="1">
                  <c:v>김영하</c:v>
                </c:pt>
                <c:pt idx="2">
                  <c:v>유발 하라리</c:v>
                </c:pt>
                <c:pt idx="3">
                  <c:v>정유정</c:v>
                </c:pt>
                <c:pt idx="4">
                  <c:v>무라카미 하루키</c:v>
                </c:pt>
                <c:pt idx="5">
                  <c:v>조지 오웰</c:v>
                </c:pt>
                <c:pt idx="6">
                  <c:v>김대식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38.2</c:v>
                </c:pt>
                <c:pt idx="1">
                  <c:v>12.0</c:v>
                </c:pt>
                <c:pt idx="2">
                  <c:v>12.8</c:v>
                </c:pt>
                <c:pt idx="3">
                  <c:v>5.2</c:v>
                </c:pt>
                <c:pt idx="4">
                  <c:v>6.5</c:v>
                </c:pt>
                <c:pt idx="5">
                  <c:v>9.8</c:v>
                </c:pt>
                <c:pt idx="6">
                  <c:v>6.8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매출(억원)</c:v>
                </c:pt>
              </c:strCache>
            </c:strRef>
          </c:tx>
          <c:cat>
            <c:strRef>
              <c:f>Sheet1!$A$2:$A$8</c:f>
              <c:strCache>
                <c:ptCount val="7"/>
                <c:pt idx="0">
                  <c:v>한강</c:v>
                </c:pt>
                <c:pt idx="1">
                  <c:v>김영하</c:v>
                </c:pt>
                <c:pt idx="2">
                  <c:v>유발 하라리</c:v>
                </c:pt>
                <c:pt idx="3">
                  <c:v>정유정</c:v>
                </c:pt>
                <c:pt idx="4">
                  <c:v>무라카미 하루키</c:v>
                </c:pt>
                <c:pt idx="5">
                  <c:v>조지 오웰</c:v>
                </c:pt>
                <c:pt idx="6">
                  <c:v>김대식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5.3</c:v>
                </c:pt>
                <c:pt idx="1">
                  <c:v>1.8</c:v>
                </c:pt>
                <c:pt idx="2">
                  <c:v>2.8</c:v>
                </c:pt>
                <c:pt idx="3">
                  <c:v>0.7</c:v>
                </c:pt>
                <c:pt idx="4">
                  <c:v>1.0</c:v>
                </c:pt>
                <c:pt idx="5">
                  <c:v>1.1</c:v>
                </c:pt>
                <c:pt idx="6">
                  <c:v>1.2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>
              <a:latin typeface="맑은 고딕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300">
                <a:latin typeface="맑은 고딕"/>
              </a:defRPr>
            </a:pPr>
            <a:r>
              <a:t>회원 등급 비율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회원비율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일반</c:v>
                </c:pt>
                <c:pt idx="1">
                  <c:v>실버</c:v>
                </c:pt>
                <c:pt idx="2">
                  <c:v>골드</c:v>
                </c:pt>
                <c:pt idx="3">
                  <c:v>VIP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55</c:v>
                </c:pt>
                <c:pt idx="1">
                  <c:v>25</c:v>
                </c:pt>
                <c:pt idx="2">
                  <c:v>15</c:v>
                </c:pt>
                <c:pt idx="3">
                  <c:v>5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000">
                  <a:latin typeface="맑은 고딕"/>
                </a:defRPr>
              </a:pPr>
            </a:p>
          </c:txPr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300">
                <a:latin typeface="맑은 고딕"/>
              </a:defRPr>
            </a:pPr>
            <a:r>
              <a:t>이벤트 vs 일반 매출 비교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이벤트매출(백만원)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120</c:v>
                </c:pt>
                <c:pt idx="1">
                  <c:v>180</c:v>
                </c:pt>
                <c:pt idx="2">
                  <c:v>350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일반매출(백만원)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1030</c:v>
                </c:pt>
                <c:pt idx="1">
                  <c:v>1020</c:v>
                </c:pt>
                <c:pt idx="2">
                  <c:v>1150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>
              <a:latin typeface="맑은 고딕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300">
                <a:latin typeface="맑은 고딕"/>
              </a:defRPr>
            </a:pPr>
            <a:r>
              <a:t>매체별 매출 비중 추이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종이책(%)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  <c:pt idx="4">
                  <c:v>2026.Q1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85</c:v>
                </c:pt>
                <c:pt idx="1">
                  <c:v>80</c:v>
                </c:pt>
                <c:pt idx="2">
                  <c:v>75</c:v>
                </c:pt>
                <c:pt idx="3">
                  <c:v>70</c:v>
                </c:pt>
                <c:pt idx="4">
                  <c:v>65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전자책(%)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  <c:pt idx="4">
                  <c:v>2026.Q1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12</c:v>
                </c:pt>
                <c:pt idx="1">
                  <c:v>16</c:v>
                </c:pt>
                <c:pt idx="2">
                  <c:v>20</c:v>
                </c:pt>
                <c:pt idx="3">
                  <c:v>25</c:v>
                </c:pt>
                <c:pt idx="4">
                  <c:v>30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오디오북(%)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  <c:pt idx="4">
                  <c:v>2026.Q1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3</c:v>
                </c:pt>
                <c:pt idx="1">
                  <c:v>4</c:v>
                </c:pt>
                <c:pt idx="2">
                  <c:v>5</c:v>
                </c:pt>
                <c:pt idx="3">
                  <c:v>5</c:v>
                </c:pt>
                <c:pt idx="4">
                  <c:v>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>
              <a:latin typeface="맑은 고딕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0"/>
            <a:ext cx="12191695" cy="7315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맑은 고딕"/>
              </a:defRPr>
            </a:pPr>
            <a:r>
              <a:t>온라인 서점 운영 보고서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ECF0F1"/>
                </a:solidFill>
                <a:latin typeface="맑은 고딕"/>
              </a:defRPr>
            </a:pPr>
            <a:r>
              <a:t>2026년 1분기 | 샘플북스</a:t>
            </a:r>
            <a:br/>
            <a:r>
              <a:t>운영팀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5276"/>
                </a:solidFill>
                <a:latin typeface="맑은 고딕"/>
              </a:defRPr>
            </a:pPr>
            <a:r>
              <a:t>1분기 핵심 지표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03807" y="1645920"/>
            <a:ext cx="1737360" cy="1463040"/>
          </a:xfrm>
          <a:prstGeom prst="round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  <a:latin typeface="맑은 고딕"/>
              </a:defRPr>
            </a:pPr>
            <a:r>
              <a:t>38.5억원</a:t>
            </a:r>
          </a:p>
          <a:p>
            <a:pPr algn="ctr">
              <a:defRPr sz="1300">
                <a:solidFill>
                  <a:srgbClr val="FFFFFF"/>
                </a:solidFill>
                <a:latin typeface="맑은 고딕"/>
              </a:defRPr>
            </a:pPr>
            <a:r>
              <a:t>매출액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15487" y="1645920"/>
            <a:ext cx="1737360" cy="146304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  <a:latin typeface="맑은 고딕"/>
              </a:defRPr>
            </a:pPr>
            <a:r>
              <a:t>285,000권</a:t>
            </a:r>
          </a:p>
          <a:p>
            <a:pPr algn="ctr">
              <a:defRPr sz="1300">
                <a:solidFill>
                  <a:srgbClr val="FFFFFF"/>
                </a:solidFill>
                <a:latin typeface="맑은 고딕"/>
              </a:defRPr>
            </a:pPr>
            <a:r>
              <a:t>판매 권수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27167" y="1645920"/>
            <a:ext cx="1737360" cy="146304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  <a:latin typeface="맑은 고딕"/>
              </a:defRPr>
            </a:pPr>
            <a:r>
              <a:t>125,000명</a:t>
            </a:r>
          </a:p>
          <a:p>
            <a:pPr algn="ctr">
              <a:defRPr sz="1300">
                <a:solidFill>
                  <a:srgbClr val="FFFFFF"/>
                </a:solidFill>
                <a:latin typeface="맑은 고딕"/>
              </a:defRPr>
            </a:pPr>
            <a:r>
              <a:t>회원 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38847" y="1645920"/>
            <a:ext cx="1737360" cy="146304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  <a:latin typeface="맑은 고딕"/>
              </a:defRPr>
            </a:pPr>
            <a:r>
              <a:t>52%</a:t>
            </a:r>
          </a:p>
          <a:p>
            <a:pPr algn="ctr">
              <a:defRPr sz="1300">
                <a:solidFill>
                  <a:srgbClr val="FFFFFF"/>
                </a:solidFill>
                <a:latin typeface="맑은 고딕"/>
              </a:defRPr>
            </a:pPr>
            <a:r>
              <a:t>재구매율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50527" y="1645920"/>
            <a:ext cx="1737360" cy="146304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  <a:latin typeface="맑은 고딕"/>
              </a:defRPr>
            </a:pPr>
            <a:r>
              <a:t>4.3/5.0</a:t>
            </a:r>
          </a:p>
          <a:p>
            <a:pPr algn="ctr">
              <a:defRPr sz="1300">
                <a:solidFill>
                  <a:srgbClr val="FFFFFF"/>
                </a:solidFill>
                <a:latin typeface="맑은 고딕"/>
              </a:defRPr>
            </a:pPr>
            <a:r>
              <a:t>평균 리뷰 평점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8D"/>
                </a:solidFill>
                <a:latin typeface="맑은 고딕"/>
              </a:defRPr>
            </a:pPr>
            <a:r>
              <a:t>2/12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5276"/>
                </a:solidFill>
                <a:latin typeface="맑은 고딕"/>
              </a:defRPr>
            </a:pPr>
            <a:r>
              <a:t>장르별 판매 현황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371600"/>
          <a:ext cx="50292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0" y="1371600"/>
          <a:ext cx="57607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180"/>
                <a:gridCol w="1440180"/>
                <a:gridCol w="1440180"/>
                <a:gridCol w="1440180"/>
              </a:tblGrid>
              <a:tr h="5715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장르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판매(억원)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전년비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평균 단가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소설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10.8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+35%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14,200원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자기계발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6.9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+8%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16,500원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에세이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5.8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+22%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13,800원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과학/기술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4.6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+18%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19,200원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역사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3.1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+12%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18,500원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어린이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3.1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+5%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12,000원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만화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2.3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+25%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6,500원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8D"/>
                </a:solidFill>
                <a:latin typeface="맑은 고딕"/>
              </a:defRPr>
            </a:pPr>
            <a:r>
              <a:t>3/12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5276"/>
                </a:solidFill>
                <a:latin typeface="맑은 고딕"/>
              </a:defRPr>
            </a:pPr>
            <a:r>
              <a:t>분기 베스트셀러 TOP 10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471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5890"/>
                <a:gridCol w="1405890"/>
                <a:gridCol w="1405890"/>
                <a:gridCol w="1405890"/>
                <a:gridCol w="1405890"/>
                <a:gridCol w="1405890"/>
                <a:gridCol w="1405890"/>
                <a:gridCol w="140589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순위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도서명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작가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장르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가격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판매 부수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평점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리뷰 수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채식주의자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한강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소설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13,000원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18,500부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4.8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2,350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사피엔스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유발 하라리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역사/과학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22,000원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12,800부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4.7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1,890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작별하지 않는다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한강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소설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14,800원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11,200부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4.6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1,520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1984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조지 오웰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소설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11,000원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9,800부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4.5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3,200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소년이 온다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한강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소설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12,000원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8,500부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4.9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980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밤의 언어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김영하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소설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15,800원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7,200부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4.4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620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AI 시대의 인간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김대식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과학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18,000원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6,800부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4.3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450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노르웨이의 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하루키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소설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14,800원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6,500부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4.6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2,800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28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정유정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소설/추리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14,000원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5,200부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4.5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1,100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살인자의 기억법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김영하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소설/추리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13,500원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4,800부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4.4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890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8D"/>
                </a:solidFill>
                <a:latin typeface="맑은 고딕"/>
              </a:defRPr>
            </a:pPr>
            <a:r>
              <a:t>4/12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5276"/>
                </a:solidFill>
                <a:latin typeface="맑은 고딕"/>
              </a:defRPr>
            </a:pPr>
            <a:r>
              <a:t>월별 매출 추이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371600"/>
          <a:ext cx="68580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772400" y="164592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30"/>
              </a:spcAft>
              <a:defRPr sz="1100">
                <a:solidFill>
                  <a:srgbClr val="2C3E50"/>
                </a:solidFill>
                <a:latin typeface="맑은 고딕"/>
              </a:defRPr>
            </a:pPr>
            <a:r>
              <a:t>[1분기 분석]</a:t>
            </a:r>
          </a:p>
          <a:p>
            <a:pPr>
              <a:spcAft>
                <a:spcPts val="330"/>
              </a:spcAft>
              <a:defRPr sz="1100">
                <a:solidFill>
                  <a:srgbClr val="2C3E50"/>
                </a:solidFill>
                <a:latin typeface="맑은 고딕"/>
              </a:defRPr>
            </a:pPr>
          </a:p>
          <a:p>
            <a:pPr>
              <a:spcAft>
                <a:spcPts val="330"/>
              </a:spcAft>
              <a:defRPr sz="1100">
                <a:solidFill>
                  <a:srgbClr val="2C3E50"/>
                </a:solidFill>
                <a:latin typeface="맑은 고딕"/>
              </a:defRPr>
            </a:pPr>
            <a:r>
              <a:t>1월: 11.5억원</a:t>
            </a:r>
          </a:p>
          <a:p>
            <a:pPr>
              <a:spcAft>
                <a:spcPts val="330"/>
              </a:spcAft>
              <a:defRPr sz="1100">
                <a:solidFill>
                  <a:srgbClr val="2C3E50"/>
                </a:solidFill>
                <a:latin typeface="맑은 고딕"/>
              </a:defRPr>
            </a:pPr>
            <a:r>
              <a:t>  (설 선물 세트 특수)</a:t>
            </a:r>
          </a:p>
          <a:p>
            <a:pPr>
              <a:spcAft>
                <a:spcPts val="330"/>
              </a:spcAft>
              <a:defRPr sz="1100">
                <a:solidFill>
                  <a:srgbClr val="2C3E50"/>
                </a:solidFill>
                <a:latin typeface="맑은 고딕"/>
              </a:defRPr>
            </a:pPr>
          </a:p>
          <a:p>
            <a:pPr>
              <a:spcAft>
                <a:spcPts val="330"/>
              </a:spcAft>
              <a:defRPr sz="1100">
                <a:solidFill>
                  <a:srgbClr val="2C3E50"/>
                </a:solidFill>
                <a:latin typeface="맑은 고딕"/>
              </a:defRPr>
            </a:pPr>
            <a:r>
              <a:t>2월: 12.0억원</a:t>
            </a:r>
          </a:p>
          <a:p>
            <a:pPr>
              <a:spcAft>
                <a:spcPts val="330"/>
              </a:spcAft>
              <a:defRPr sz="1100">
                <a:solidFill>
                  <a:srgbClr val="2C3E50"/>
                </a:solidFill>
                <a:latin typeface="맑은 고딕"/>
              </a:defRPr>
            </a:pPr>
            <a:r>
              <a:t>  (발렌타인 이벤트)</a:t>
            </a:r>
          </a:p>
          <a:p>
            <a:pPr>
              <a:spcAft>
                <a:spcPts val="330"/>
              </a:spcAft>
              <a:defRPr sz="1100">
                <a:solidFill>
                  <a:srgbClr val="2C3E50"/>
                </a:solidFill>
                <a:latin typeface="맑은 고딕"/>
              </a:defRPr>
            </a:pPr>
          </a:p>
          <a:p>
            <a:pPr>
              <a:spcAft>
                <a:spcPts val="330"/>
              </a:spcAft>
              <a:defRPr sz="1100">
                <a:solidFill>
                  <a:srgbClr val="2C3E50"/>
                </a:solidFill>
                <a:latin typeface="맑은 고딕"/>
              </a:defRPr>
            </a:pPr>
            <a:r>
              <a:t>3월: 15.0억원</a:t>
            </a:r>
          </a:p>
          <a:p>
            <a:pPr>
              <a:spcAft>
                <a:spcPts val="330"/>
              </a:spcAft>
              <a:defRPr sz="1100">
                <a:solidFill>
                  <a:srgbClr val="2C3E50"/>
                </a:solidFill>
                <a:latin typeface="맑은 고딕"/>
              </a:defRPr>
            </a:pPr>
            <a:r>
              <a:t>  (한강 노벨문학상 효과</a:t>
            </a:r>
          </a:p>
          <a:p>
            <a:pPr>
              <a:spcAft>
                <a:spcPts val="330"/>
              </a:spcAft>
              <a:defRPr sz="1100">
                <a:solidFill>
                  <a:srgbClr val="2C3E50"/>
                </a:solidFill>
                <a:latin typeface="맑은 고딕"/>
              </a:defRPr>
            </a:pPr>
            <a:r>
              <a:t>   지속 + 봄 독서 캠페인)</a:t>
            </a:r>
          </a:p>
          <a:p>
            <a:pPr>
              <a:spcAft>
                <a:spcPts val="330"/>
              </a:spcAft>
              <a:defRPr sz="1100">
                <a:solidFill>
                  <a:srgbClr val="2C3E50"/>
                </a:solidFill>
                <a:latin typeface="맑은 고딕"/>
              </a:defRPr>
            </a:pPr>
          </a:p>
          <a:p>
            <a:pPr>
              <a:spcAft>
                <a:spcPts val="330"/>
              </a:spcAft>
              <a:defRPr sz="1100">
                <a:solidFill>
                  <a:srgbClr val="2C3E50"/>
                </a:solidFill>
                <a:latin typeface="맑은 고딕"/>
              </a:defRPr>
            </a:pPr>
            <a:r>
              <a:t>전년 동기 대비 +51%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8D"/>
                </a:solidFill>
                <a:latin typeface="맑은 고딕"/>
              </a:defRPr>
            </a:pPr>
            <a:r>
              <a:t>5/12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5276"/>
                </a:solidFill>
                <a:latin typeface="맑은 고딕"/>
              </a:defRPr>
            </a:pPr>
            <a:r>
              <a:t>작가별 판매 실적 분석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371600"/>
          <a:ext cx="64008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0" y="164592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30"/>
              </a:spcAft>
              <a:defRPr sz="1100">
                <a:solidFill>
                  <a:srgbClr val="2C3E50"/>
                </a:solidFill>
                <a:latin typeface="맑은 고딕"/>
              </a:defRPr>
            </a:pPr>
            <a:r>
              <a:t>[한강 작가 효과]</a:t>
            </a:r>
          </a:p>
          <a:p>
            <a:pPr>
              <a:spcAft>
                <a:spcPts val="330"/>
              </a:spcAft>
              <a:defRPr sz="1100">
                <a:solidFill>
                  <a:srgbClr val="2C3E50"/>
                </a:solidFill>
                <a:latin typeface="맑은 고딕"/>
              </a:defRPr>
            </a:pPr>
          </a:p>
          <a:p>
            <a:pPr>
              <a:spcAft>
                <a:spcPts val="330"/>
              </a:spcAft>
              <a:defRPr sz="1100">
                <a:solidFill>
                  <a:srgbClr val="2C3E50"/>
                </a:solidFill>
                <a:latin typeface="맑은 고딕"/>
              </a:defRPr>
            </a:pPr>
            <a:r>
              <a:t>노벨문학상 수상 이후</a:t>
            </a:r>
          </a:p>
          <a:p>
            <a:pPr>
              <a:spcAft>
                <a:spcPts val="330"/>
              </a:spcAft>
              <a:defRPr sz="1100">
                <a:solidFill>
                  <a:srgbClr val="2C3E50"/>
                </a:solidFill>
                <a:latin typeface="맑은 고딕"/>
              </a:defRPr>
            </a:pPr>
            <a:r>
              <a:t>한강 작품 전체 매출 +280%</a:t>
            </a:r>
          </a:p>
          <a:p>
            <a:pPr>
              <a:spcAft>
                <a:spcPts val="330"/>
              </a:spcAft>
              <a:defRPr sz="1100">
                <a:solidFill>
                  <a:srgbClr val="2C3E50"/>
                </a:solidFill>
                <a:latin typeface="맑은 고딕"/>
              </a:defRPr>
            </a:pPr>
          </a:p>
          <a:p>
            <a:pPr>
              <a:spcAft>
                <a:spcPts val="330"/>
              </a:spcAft>
              <a:defRPr sz="1100">
                <a:solidFill>
                  <a:srgbClr val="2C3E50"/>
                </a:solidFill>
                <a:latin typeface="맑은 고딕"/>
              </a:defRPr>
            </a:pPr>
            <a:r>
              <a:t>1분기 한강 작품 매출: 5.3억</a:t>
            </a:r>
          </a:p>
          <a:p>
            <a:pPr>
              <a:spcAft>
                <a:spcPts val="330"/>
              </a:spcAft>
              <a:defRPr sz="1100">
                <a:solidFill>
                  <a:srgbClr val="2C3E50"/>
                </a:solidFill>
                <a:latin typeface="맑은 고딕"/>
              </a:defRPr>
            </a:pPr>
            <a:r>
              <a:t>(전체 소설 매출의 49%)</a:t>
            </a:r>
          </a:p>
          <a:p>
            <a:pPr>
              <a:spcAft>
                <a:spcPts val="330"/>
              </a:spcAft>
              <a:defRPr sz="1100">
                <a:solidFill>
                  <a:srgbClr val="2C3E50"/>
                </a:solidFill>
                <a:latin typeface="맑은 고딕"/>
              </a:defRPr>
            </a:pPr>
          </a:p>
          <a:p>
            <a:pPr>
              <a:spcAft>
                <a:spcPts val="330"/>
              </a:spcAft>
              <a:defRPr sz="1100">
                <a:solidFill>
                  <a:srgbClr val="2C3E50"/>
                </a:solidFill>
                <a:latin typeface="맑은 고딕"/>
              </a:defRPr>
            </a:pPr>
            <a:r>
              <a:t>[특이사항]</a:t>
            </a:r>
          </a:p>
          <a:p>
            <a:pPr>
              <a:spcAft>
                <a:spcPts val="330"/>
              </a:spcAft>
              <a:defRPr sz="1100">
                <a:solidFill>
                  <a:srgbClr val="2C3E50"/>
                </a:solidFill>
                <a:latin typeface="맑은 고딕"/>
              </a:defRPr>
            </a:pPr>
            <a:r>
              <a:t>- 채식주의자 특별판 품절</a:t>
            </a:r>
          </a:p>
          <a:p>
            <a:pPr>
              <a:spcAft>
                <a:spcPts val="330"/>
              </a:spcAft>
              <a:defRPr sz="1100">
                <a:solidFill>
                  <a:srgbClr val="2C3E50"/>
                </a:solidFill>
                <a:latin typeface="맑은 고딕"/>
              </a:defRPr>
            </a:pPr>
            <a:r>
              <a:t>  → 2쇄 인쇄 진행중</a:t>
            </a:r>
          </a:p>
          <a:p>
            <a:pPr>
              <a:spcAft>
                <a:spcPts val="330"/>
              </a:spcAft>
              <a:defRPr sz="1100">
                <a:solidFill>
                  <a:srgbClr val="2C3E50"/>
                </a:solidFill>
                <a:latin typeface="맑은 고딕"/>
              </a:defRPr>
            </a:pPr>
            <a:r>
              <a:t>- 작별하지않는다 영화화</a:t>
            </a:r>
          </a:p>
          <a:p>
            <a:pPr>
              <a:spcAft>
                <a:spcPts val="330"/>
              </a:spcAft>
              <a:defRPr sz="1100">
                <a:solidFill>
                  <a:srgbClr val="2C3E50"/>
                </a:solidFill>
                <a:latin typeface="맑은 고딕"/>
              </a:defRPr>
            </a:pPr>
            <a:r>
              <a:t>  → 4월 추가 매출 기대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8D"/>
                </a:solidFill>
                <a:latin typeface="맑은 고딕"/>
              </a:defRPr>
            </a:pPr>
            <a:r>
              <a:t>6/12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5276"/>
                </a:solidFill>
                <a:latin typeface="맑은 고딕"/>
              </a:defRPr>
            </a:pPr>
            <a:r>
              <a:t>회원 등급 분포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371600"/>
          <a:ext cx="50292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0" y="1371600"/>
          <a:ext cx="57607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2144"/>
                <a:gridCol w="1152144"/>
                <a:gridCol w="1152144"/>
                <a:gridCol w="1152144"/>
                <a:gridCol w="1152144"/>
              </a:tblGrid>
              <a:tr h="9144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등급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인원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평균 구매액/월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포인트 적립률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연 매출 기여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일반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68,750명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12,000원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8.3억원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실버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31,250명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28,000원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10.5억원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골드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18,750명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55,000원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3%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12.4억원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VIP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6,250명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95,000원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7.1억원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8D"/>
                </a:solidFill>
                <a:latin typeface="맑은 고딕"/>
              </a:defRPr>
            </a:pPr>
            <a:r>
              <a:t>7/12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5276"/>
                </a:solidFill>
                <a:latin typeface="맑은 고딕"/>
              </a:defRPr>
            </a:pPr>
            <a:r>
              <a:t>도서 구매 여정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  <a:latin typeface="맑은 고딕"/>
              </a:defRPr>
            </a:pPr>
            <a:r>
              <a:t>검색 ~ 리뷰 작성까지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828800"/>
            <a:ext cx="1645920" cy="82296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도서 검색</a:t>
            </a:r>
            <a:br/>
            <a:r>
              <a:t>/추천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68880" y="1828800"/>
            <a:ext cx="1645920" cy="82296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상세 정보</a:t>
            </a:r>
            <a:br/>
            <a:r>
              <a:t>리뷰 확인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148840" y="2240280"/>
            <a:ext cx="320040" cy="22860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663440" y="1828800"/>
            <a:ext cx="1645920" cy="82296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장바구니</a:t>
            </a:r>
            <a:br/>
            <a:r>
              <a:t>담기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343400" y="2240280"/>
            <a:ext cx="320040" cy="22860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58000" y="1828800"/>
            <a:ext cx="1645920" cy="82296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결제</a:t>
            </a:r>
            <a:br/>
            <a:r>
              <a:t>(쿠폰적용)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537960" y="2240280"/>
            <a:ext cx="320040" cy="22860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052560" y="1828800"/>
            <a:ext cx="1645920" cy="822960"/>
          </a:xfrm>
          <a:prstGeom prst="round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배송</a:t>
            </a:r>
            <a:br/>
            <a:r>
              <a:t>(1~2일)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732520" y="2240280"/>
            <a:ext cx="320040" cy="22860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1247120" y="1828800"/>
            <a:ext cx="1645920" cy="82296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수령 후</a:t>
            </a:r>
            <a:br/>
            <a:r>
              <a:t>리뷰 작성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10927080" y="2240280"/>
            <a:ext cx="320040" cy="22860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457200" y="3474720"/>
          <a:ext cx="112471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단계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전환율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이탈 원인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개선 방안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검색 → 상세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45%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검색 결과 부정확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AI 추천 + 검색 고도화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상세 → 장바구니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35%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가격 비교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최저가 보장 배지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장바구니 → 결제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72%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배송비 부담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1.5만원 이상 무료배송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수령 → 리뷰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리뷰 작성 귀찮음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포인트 2배 + 간편 리뷰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8D"/>
                </a:solidFill>
                <a:latin typeface="맑은 고딕"/>
              </a:defRPr>
            </a:pPr>
            <a:r>
              <a:t>8/12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5276"/>
                </a:solidFill>
                <a:latin typeface="맑은 고딕"/>
              </a:defRPr>
            </a:pPr>
            <a:r>
              <a:t>독서 모임 및 이벤트 현황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471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6400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이벤트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기간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참여자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매출 기여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효과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월간 독서 모임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매월 마지막 토요일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평균 120명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+1,200만원/월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재구매율 +8%p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한강 특별전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1.15~2.28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온라인 85,000명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+3.5억원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소설 카테고리 +45%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봄 독서 캠페인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3.1~3.31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42,000명 참여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+2.1억원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신규 회원 +5,200명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저자 사인회 (김영하)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3.15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오프라인 200명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+800만원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SNS 노출 50만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4572000"/>
          <a:ext cx="11247120" cy="2103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8D"/>
                </a:solidFill>
                <a:latin typeface="맑은 고딕"/>
              </a:defRPr>
            </a:pPr>
            <a:r>
              <a:t>9/12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5276"/>
                </a:solidFill>
                <a:latin typeface="맑은 고딕"/>
              </a:defRPr>
            </a:pPr>
            <a:r>
              <a:t>전자책 vs 종이책 비교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371600"/>
          <a:ext cx="59436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0" y="1371600"/>
          <a:ext cx="48463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1580"/>
                <a:gridCol w="1211580"/>
                <a:gridCol w="1211580"/>
                <a:gridCol w="1211580"/>
              </a:tblGrid>
              <a:tr h="11430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매체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매출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성장률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마진율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종이책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25.0억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+12%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25%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전자책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11.6억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+42%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55%</a:t>
                      </a:r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오디오북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1.9억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+35%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60%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0" y="502920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30"/>
              </a:spcAft>
              <a:defRPr sz="1100">
                <a:solidFill>
                  <a:srgbClr val="7F8C8D"/>
                </a:solidFill>
                <a:latin typeface="맑은 고딕"/>
              </a:defRPr>
            </a:pPr>
            <a:r>
              <a:t>전자책/오디오북 마진율이 높아</a:t>
            </a:r>
          </a:p>
          <a:p>
            <a:pPr>
              <a:spcAft>
                <a:spcPts val="330"/>
              </a:spcAft>
              <a:defRPr sz="1100">
                <a:solidFill>
                  <a:srgbClr val="7F8C8D"/>
                </a:solidFill>
                <a:latin typeface="맑은 고딕"/>
              </a:defRPr>
            </a:pPr>
            <a:r>
              <a:t>디지털 채널 확대가 수익성 핵심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8D"/>
                </a:solidFill>
                <a:latin typeface="맑은 고딕"/>
              </a:defRPr>
            </a:pPr>
            <a:r>
              <a:t>10/12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5276"/>
                </a:solidFill>
                <a:latin typeface="맑은 고딕"/>
              </a:defRPr>
            </a:pPr>
            <a:r>
              <a:t>재고 관리 현황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47117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6731"/>
                <a:gridCol w="1606731"/>
                <a:gridCol w="1606731"/>
                <a:gridCol w="1606731"/>
                <a:gridCol w="1606731"/>
                <a:gridCol w="1606731"/>
                <a:gridCol w="1606731"/>
              </a:tblGrid>
              <a:tr h="5588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장르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보유 종수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총 재고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회전율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반품률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절판 위험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발주 상태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소설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2,500종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85,000권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3.2회/월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12종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정상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자기계발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1,800종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42,000권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2.8회/월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5종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정상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에세이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1,200종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35,000권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2.5회/월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6%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3종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정상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과학/기술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900종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18,000권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2.0회/월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8종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주의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역사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800종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15,000권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1.8회/월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12%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15종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주의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어린이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1,500종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55,000권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2.2회/월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2종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정상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만화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3,000종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90,000권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3.5회/월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3%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20종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정상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합계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11,700종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340,000권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2.7회/월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65종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8D"/>
                </a:solidFill>
                <a:latin typeface="맑은 고딕"/>
              </a:defRPr>
            </a:pPr>
            <a:r>
              <a:t>11/12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5276"/>
                </a:solidFill>
                <a:latin typeface="맑은 고딕"/>
              </a:defRPr>
            </a:pPr>
            <a:r>
              <a:t>2분기 전략 및 계획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2286000" cy="91440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AI 추천</a:t>
            </a:r>
            <a:br/>
            <a:r>
              <a:t>엔진 도입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0" y="1828800"/>
            <a:ext cx="2286000" cy="91440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오디오북</a:t>
            </a:r>
            <a:br/>
            <a:r>
              <a:t>라인업 확대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46120" y="2286000"/>
            <a:ext cx="320040" cy="22860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0" y="1828800"/>
            <a:ext cx="2286000" cy="91440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작가 팬미팅</a:t>
            </a:r>
            <a:br/>
            <a:r>
              <a:t>시리즈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172200" y="2286000"/>
            <a:ext cx="320040" cy="22860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509760" y="1828800"/>
            <a:ext cx="2286000" cy="91440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구독 서비스</a:t>
            </a:r>
            <a:br/>
            <a:r>
              <a:t>베타 출시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9098280" y="2286000"/>
            <a:ext cx="320040" cy="22860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65760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60"/>
              </a:spcAft>
              <a:defRPr sz="1200">
                <a:solidFill>
                  <a:srgbClr val="2C3E50"/>
                </a:solidFill>
                <a:latin typeface="맑은 고딕"/>
              </a:defRPr>
            </a:pPr>
            <a:r>
              <a:t>[2분기 목표] 매출 42억원 (+9% QoQ) | 회원 135,000명 | 전자책 비중 33%</a:t>
            </a:r>
          </a:p>
          <a:p>
            <a:pPr>
              <a:spcAft>
                <a:spcPts val="360"/>
              </a:spcAft>
              <a:defRPr sz="1200">
                <a:solidFill>
                  <a:srgbClr val="2C3E50"/>
                </a:solidFill>
                <a:latin typeface="맑은 고딕"/>
              </a:defRPr>
            </a:pPr>
          </a:p>
          <a:p>
            <a:pPr>
              <a:spcAft>
                <a:spcPts val="360"/>
              </a:spcAft>
              <a:defRPr sz="1200">
                <a:solidFill>
                  <a:srgbClr val="2C3E50"/>
                </a:solidFill>
                <a:latin typeface="맑은 고딕"/>
              </a:defRPr>
            </a:pPr>
            <a:r>
              <a:t>[핵심 과제]</a:t>
            </a:r>
          </a:p>
          <a:p>
            <a:pPr>
              <a:spcAft>
                <a:spcPts val="360"/>
              </a:spcAft>
              <a:defRPr sz="1200">
                <a:solidFill>
                  <a:srgbClr val="2C3E50"/>
                </a:solidFill>
                <a:latin typeface="맑은 고딕"/>
              </a:defRPr>
            </a:pPr>
            <a:r>
              <a:t>1. AI 도서 추천 — 구매/검색 이력 기반 개인화 (5월 출시, 투자 1.5억원)</a:t>
            </a:r>
          </a:p>
          <a:p>
            <a:pPr>
              <a:spcAft>
                <a:spcPts val="360"/>
              </a:spcAft>
              <a:defRPr sz="1200">
                <a:solidFill>
                  <a:srgbClr val="2C3E50"/>
                </a:solidFill>
                <a:latin typeface="맑은 고딕"/>
              </a:defRPr>
            </a:pPr>
            <a:r>
              <a:t>2. 오디오북 50종 추가 제작 — 베스트셀러 중심, 성우 녹음 (투자 0.8억원)</a:t>
            </a:r>
          </a:p>
          <a:p>
            <a:pPr>
              <a:spcAft>
                <a:spcPts val="360"/>
              </a:spcAft>
              <a:defRPr sz="1200">
                <a:solidFill>
                  <a:srgbClr val="2C3E50"/>
                </a:solidFill>
                <a:latin typeface="맑은 고딕"/>
              </a:defRPr>
            </a:pPr>
            <a:r>
              <a:t>3. 작가 팬미팅 시리즈 — 월 2회, 온/오프라인 병행 (매출 기여 +5%)</a:t>
            </a:r>
          </a:p>
          <a:p>
            <a:pPr>
              <a:spcAft>
                <a:spcPts val="360"/>
              </a:spcAft>
              <a:defRPr sz="1200">
                <a:solidFill>
                  <a:srgbClr val="2C3E50"/>
                </a:solidFill>
                <a:latin typeface="맑은 고딕"/>
              </a:defRPr>
            </a:pPr>
            <a:r>
              <a:t>4. 월간 구독 서비스 베타 — 월 9,900원, 전자책 무제한 (6월 오픈)</a:t>
            </a:r>
          </a:p>
          <a:p>
            <a:pPr>
              <a:spcAft>
                <a:spcPts val="360"/>
              </a:spcAft>
              <a:defRPr sz="1200">
                <a:solidFill>
                  <a:srgbClr val="2C3E50"/>
                </a:solidFill>
                <a:latin typeface="맑은 고딕"/>
              </a:defRPr>
            </a:pPr>
            <a:r>
              <a:t>5. 한강 노벨문학상 1주년 특별 기획전 (10월, 매출 기여 +8억 예상)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8D"/>
                </a:solidFill>
                <a:latin typeface="맑은 고딕"/>
              </a:defRPr>
            </a:pPr>
            <a:r>
              <a:t>12/12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