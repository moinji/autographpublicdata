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월별 매출 추이 (억원)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  <c:pt idx="12">
                  <c:v>1월</c:v>
                </c:pt>
                <c:pt idx="13">
                  <c:v>2월</c:v>
                </c:pt>
                <c:pt idx="14">
                  <c:v>3월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9.5</c:v>
                </c:pt>
                <c:pt idx="1">
                  <c:v>8.8</c:v>
                </c:pt>
                <c:pt idx="2">
                  <c:v>10.2</c:v>
                </c:pt>
                <c:pt idx="3">
                  <c:v>11.0</c:v>
                </c:pt>
                <c:pt idx="4">
                  <c:v>10.5</c:v>
                </c:pt>
                <c:pt idx="5">
                  <c:v>12.3</c:v>
                </c:pt>
                <c:pt idx="6">
                  <c:v>11.8</c:v>
                </c:pt>
                <c:pt idx="7">
                  <c:v>9.2</c:v>
                </c:pt>
                <c:pt idx="8">
                  <c:v>10.8</c:v>
                </c:pt>
                <c:pt idx="9">
                  <c:v>11.5</c:v>
                </c:pt>
                <c:pt idx="10">
                  <c:v>13.0</c:v>
                </c:pt>
                <c:pt idx="11">
                  <c:v>15.2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  <c:pt idx="12">
                  <c:v>1월</c:v>
                </c:pt>
                <c:pt idx="13">
                  <c:v>2월</c:v>
                </c:pt>
                <c:pt idx="14">
                  <c:v>3월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12">
                  <c:v>13.8</c:v>
                </c:pt>
                <c:pt idx="13">
                  <c:v>14.2</c:v>
                </c:pt>
                <c:pt idx="14">
                  <c:v>17.2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카테고리별 매출 비중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매출비중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전자기기</c:v>
                </c:pt>
                <c:pt idx="1">
                  <c:v>패션/의류</c:v>
                </c:pt>
                <c:pt idx="2">
                  <c:v>식품</c:v>
                </c:pt>
                <c:pt idx="3">
                  <c:v>생활용품</c:v>
                </c:pt>
                <c:pt idx="4">
                  <c:v>도서/문구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40.9</c:v>
                </c:pt>
                <c:pt idx="1">
                  <c:v>27.2</c:v>
                </c:pt>
                <c:pt idx="2">
                  <c:v>17.9</c:v>
                </c:pt>
                <c:pt idx="3">
                  <c:v>8.0</c:v>
                </c:pt>
                <c:pt idx="4">
                  <c:v>3.5</c:v>
                </c:pt>
                <c:pt idx="5">
                  <c:v>2.5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연령대별 고객 분포 (천명)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신규 고객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  <c:pt idx="5">
                  <c:v>60대+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35</c:v>
                </c:pt>
                <c:pt idx="2">
                  <c:v>28</c:v>
                </c:pt>
                <c:pt idx="3">
                  <c:v>18</c:v>
                </c:pt>
                <c:pt idx="4">
                  <c:v>9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 고객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  <c:pt idx="5">
                  <c:v>60대+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22</c:v>
                </c:pt>
                <c:pt idx="2">
                  <c:v>42</c:v>
                </c:pt>
                <c:pt idx="3">
                  <c:v>38</c:v>
                </c:pt>
                <c:pt idx="4">
                  <c:v>20</c:v>
                </c:pt>
                <c:pt idx="5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VIP 고객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  <c:pt idx="5">
                  <c:v>60대+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5</c:v>
                </c:pt>
                <c:pt idx="2">
                  <c:v>18</c:v>
                </c:pt>
                <c:pt idx="3">
                  <c:v>25</c:v>
                </c:pt>
                <c:pt idx="4">
                  <c:v>15</c:v>
                </c:pt>
                <c:pt idx="5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채널별 투자 vs 매출 기여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광고비(백만원)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네이버 검색</c:v>
                </c:pt>
                <c:pt idx="1">
                  <c:v>인스타그램</c:v>
                </c:pt>
                <c:pt idx="2">
                  <c:v>유튜브</c:v>
                </c:pt>
                <c:pt idx="3">
                  <c:v>카카오톡</c:v>
                </c:pt>
                <c:pt idx="4">
                  <c:v>구글 검색</c:v>
                </c:pt>
                <c:pt idx="5">
                  <c:v>페이스북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250</c:v>
                </c:pt>
                <c:pt idx="1">
                  <c:v>180</c:v>
                </c:pt>
                <c:pt idx="2">
                  <c:v>150</c:v>
                </c:pt>
                <c:pt idx="3">
                  <c:v>120</c:v>
                </c:pt>
                <c:pt idx="4">
                  <c:v>100</c:v>
                </c:pt>
                <c:pt idx="5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매출기여(백만원)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네이버 검색</c:v>
                </c:pt>
                <c:pt idx="1">
                  <c:v>인스타그램</c:v>
                </c:pt>
                <c:pt idx="2">
                  <c:v>유튜브</c:v>
                </c:pt>
                <c:pt idx="3">
                  <c:v>카카오톡</c:v>
                </c:pt>
                <c:pt idx="4">
                  <c:v>구글 검색</c:v>
                </c:pt>
                <c:pt idx="5">
                  <c:v>페이스북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1200</c:v>
                </c:pt>
                <c:pt idx="1">
                  <c:v>850</c:v>
                </c:pt>
                <c:pt idx="2">
                  <c:v>620</c:v>
                </c:pt>
                <c:pt idx="3">
                  <c:v>480</c:v>
                </c:pt>
                <c:pt idx="4">
                  <c:v>380</c:v>
                </c:pt>
                <c:pt idx="5">
                  <c:v>190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지역별 매출 비중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매출비중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서울</c:v>
                </c:pt>
                <c:pt idx="1">
                  <c:v>경기</c:v>
                </c:pt>
                <c:pt idx="2">
                  <c:v>인천</c:v>
                </c:pt>
                <c:pt idx="3">
                  <c:v>부산</c:v>
                </c:pt>
                <c:pt idx="4">
                  <c:v>대구</c:v>
                </c:pt>
                <c:pt idx="5">
                  <c:v>대전</c:v>
                </c:pt>
                <c:pt idx="6">
                  <c:v>광주</c:v>
                </c:pt>
                <c:pt idx="7">
                  <c:v>기타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</c:v>
                </c:pt>
                <c:pt idx="1">
                  <c:v>25</c:v>
                </c:pt>
                <c:pt idx="2">
                  <c:v>8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  <c:pt idx="6">
                  <c:v>3</c:v>
                </c:pt>
                <c:pt idx="7">
                  <c:v>13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이커머스 사업 현황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맑은 고딕"/>
              </a:defRPr>
            </a:pPr>
            <a:r>
              <a:t>2026년 1분기 | 주식회사 샘플쇼핑</a:t>
            </a:r>
            <a:br/>
            <a:r>
              <a:t>경영기획팀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1분기 핵심 성과 지표 (KPI)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828800"/>
            <a:ext cx="1737360" cy="1463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45.2억원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총 매출액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1828800"/>
            <a:ext cx="17373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+23%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전년비 성장률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7167" y="1828800"/>
            <a:ext cx="17373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285만명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MAU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8847" y="1828800"/>
            <a:ext cx="17373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482,000건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주문 건수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527" y="1828800"/>
            <a:ext cx="1737360" cy="1463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93,800원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객단가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- 1분기 매출은 전년 동기(36.7억원) 대비 23% 성장하여 사상 최고치 달성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- 모바일 채널 비중 65% 돌파 (전년 52%), 앱 다운로드 150만 건 돌파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- 신규 회원 가입 42만명 (+35%), 재구매율 42%(+5%p) 기록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- 3월 봄 시즌 프로모션 효과로 월별 최고 매출 17.2억원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월별 매출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2025.01 ~ 2026.03 (단위: 억원)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[분석 요약]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1. 12월 연말 특수로 최고 매출 15.2억 기록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2. 2026년 1분기 역대 최고 분기 매출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3. 3월 봄 시즌 프로모션 효과 극대화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[성장 요인]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- AI 추천 엔진 도입 (2025.09)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- 당일배송 서비스 확대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- 멤버십 프로그램 개편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카테고리별 매출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기준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매출(억원)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전년비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마진율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전자기기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패션/의류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식품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생활용품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28%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도서/문구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인기 상품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판매 수량 기준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1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상품명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판매가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판매 수량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매출액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리뷰 평점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Galaxy S26 Ultra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전자기기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1,199,000원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12,500대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149.9억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ProBook X15 노트북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1,890,000원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4,200대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79.4억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에어프라이어 XL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생활용품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189,000원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15,800대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29.9억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봄 린넨 셔츠 (남성)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패션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28,300장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13.9억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유기농 그래놀라 세트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식품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32,100개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10.3억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블루투스 이어폰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299,000원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8,900개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26.6억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플라워 원피스 (여성)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패션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79,000원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18,500장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14.6억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프리미엄 커피 원두 1kg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식품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22,400개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6.3억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4.8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스마트워치 Band 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전자기기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349,000원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5,600개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19.5억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초슬림 보조배터리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41,200개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16.1억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고객 세분화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연령대 x 구매 빈도 기준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[고객 세그먼트 정의]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신규 고객: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최근 3개월 내 첫 구매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재구매 고객: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2회 이상 구매, 월 1회 미만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VIP 고객: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월 2회 이상 구매 또는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분기 30만원 이상 지출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[인사이트]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30~40대 재구매/VIP 비중 높음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20대 신규 유입 최대 → 전환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주문 처리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고객 주문 ~ 배송 완료까지 전체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55448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주문 접수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2011680"/>
            <a:ext cx="155448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결제 확인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79" y="24003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79" y="2011680"/>
            <a:ext cx="155448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재고 확인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89119" y="24003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3719" y="2011680"/>
            <a:ext cx="155448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상품 포장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59" y="24003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559" y="2011680"/>
            <a:ext cx="1554480" cy="7772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배송 출발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799" y="24003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01399" y="2011680"/>
            <a:ext cx="1554480" cy="77724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배송 완료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835639" y="24003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[단계별 SLA]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주문접수 → 결제확인: 즉시 (자동)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결제확인 → 재고확인: 5분 이내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재고확인 → 상품포장: 2시간 이내 (오후2시 이전 주문)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상품포장 → 배송출발: 당일 (수도권) / 익일 (지방)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배송출발 → 배송완료: 1~2일 (수도권) / 2~3일 (지방)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[자동화 현황]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  주문접수~재고확인: 100% 자동 | 포장: 60% 자동(로봇) | 배송추적: 실시간 API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고객 여정 맵 (Customer Journey)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단계별 접점 및 개선 포인트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1920240" cy="1920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인지 (Awareness)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SNS 광고</a:t>
            </a:r>
            <a:br/>
            <a:r>
              <a:t>검색엔진</a:t>
            </a:r>
            <a:br/>
            <a:r>
              <a:t>인플루언서</a:t>
            </a:r>
            <a:br/>
            <a:r>
              <a:t>지인 추천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645920"/>
            <a:ext cx="1920240" cy="1920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탐색 (Consideration)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상품 검색</a:t>
            </a:r>
            <a:br/>
            <a:r>
              <a:t>리뷰 확인</a:t>
            </a:r>
            <a:br/>
            <a:r>
              <a:t>가격 비교</a:t>
            </a:r>
            <a:br/>
            <a:r>
              <a:t>위시리스트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703320"/>
            <a:ext cx="1920240" cy="1920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구매 (Purchase)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장바구니</a:t>
            </a:r>
            <a:br/>
            <a:r>
              <a:t>쿠폰 적용</a:t>
            </a:r>
            <a:br/>
            <a:r>
              <a:t>결제</a:t>
            </a:r>
            <a:br/>
            <a:r>
              <a:t>주문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3703320"/>
            <a:ext cx="1920240" cy="1920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유지 (Retention)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배송 추적</a:t>
            </a:r>
            <a:br/>
            <a:r>
              <a:t>리뷰 작성</a:t>
            </a:r>
            <a:br/>
            <a:r>
              <a:t>포인트 적립</a:t>
            </a:r>
            <a:br/>
            <a:r>
              <a:t>재구매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[단계별 전환율]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인지 → 탐색: 12% (CTR)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탐색 → 장바구니: 35%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장바구니 → 결제: 68%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결제 → 재구매: 42%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[개선 포인트]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1. 장바구니 이탈율 32% 감소 필요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 → 이탈 시 푸시 알림 도입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2. 리뷰 작성률 15% → 25% 목표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 → 리뷰 포인트 2배 이벤트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마케팅 채널별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광고비 대비 효율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채널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전환율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네이버 검색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480%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12,500원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인스타그램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8,200원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유튜브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413%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15,300원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카카오톡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9,800원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구글 검색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페이스북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18,500원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경쟁사 비교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주요 KPI 벤치마크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자사 (샘플쇼핑)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경쟁사 A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경쟁사 B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경쟁사 C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업계 평균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분기 매출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45.2억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120.5억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38.7억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22.1억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42.3억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MAU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285만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850만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210만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95만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260만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객단가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93,800원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78,200원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102,500원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85,400원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88,000원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재구매율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NPS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62점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58점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55점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48점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52점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배송 만족도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4.3/5.0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4.1/5.0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3.8/5.0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4.0/5.0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앱 평점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7F8C8D"/>
                </a:solidFill>
                <a:latin typeface="맑은 고딕"/>
              </a:defRPr>
            </a:pPr>
            <a:r>
              <a:t>* 자사 강점: 객단가, NPS, 배송 만족도에서 업계 상위. 약점: MAU 규모 — 신규 유저 확보 전략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기술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주요 기술 투자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651760"/>
            <a:ext cx="9144000" cy="54864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61872" y="2542032"/>
            <a:ext cx="274320" cy="2743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맑은 고딕"/>
              </a:defRPr>
            </a:pPr>
            <a:r>
              <a:t>2026.Q1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AI 추천 v2</a:t>
            </a:r>
            <a:br/>
            <a:r>
              <a:t>개인화 강화</a:t>
            </a:r>
          </a:p>
        </p:txBody>
      </p:sp>
      <p:sp>
        <p:nvSpPr>
          <p:cNvPr id="9" name="Oval 8"/>
          <p:cNvSpPr/>
          <p:nvPr/>
        </p:nvSpPr>
        <p:spPr>
          <a:xfrm>
            <a:off x="4309872" y="2542032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096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맑은 고딕"/>
              </a:defRPr>
            </a:pPr>
            <a:r>
              <a:t>2026.Q2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8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음성 검색</a:t>
            </a:r>
            <a:br/>
            <a:r>
              <a:t>도입</a:t>
            </a:r>
          </a:p>
        </p:txBody>
      </p:sp>
      <p:sp>
        <p:nvSpPr>
          <p:cNvPr id="12" name="Oval 11"/>
          <p:cNvSpPr/>
          <p:nvPr/>
        </p:nvSpPr>
        <p:spPr>
          <a:xfrm>
            <a:off x="7357872" y="2542032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1896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맑은 고딕"/>
              </a:defRPr>
            </a:pPr>
            <a:r>
              <a:t>2026.Q3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608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AR 피팅룸</a:t>
            </a:r>
            <a:br/>
            <a:r>
              <a:t>패션 카테고리</a:t>
            </a:r>
          </a:p>
        </p:txBody>
      </p:sp>
      <p:sp>
        <p:nvSpPr>
          <p:cNvPr id="15" name="Oval 14"/>
          <p:cNvSpPr/>
          <p:nvPr/>
        </p:nvSpPr>
        <p:spPr>
          <a:xfrm>
            <a:off x="10405872" y="2542032"/>
            <a:ext cx="274320" cy="2743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828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맑은 고딕"/>
              </a:defRPr>
            </a:pPr>
            <a:r>
              <a:t>2026.Q4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017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맑은 고딕"/>
              </a:defRPr>
            </a:pPr>
            <a:r>
              <a:t>자율배송 로봇</a:t>
            </a:r>
            <a:br/>
            <a:r>
              <a:t>수도권 시범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[기술 투자 예산: 연간 15억원]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Q1: AI 추천 엔진 v2 — 실시간 행동 기반 추천, 예상 매출 +8% (투자 3억원)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Q2: 음성 검색 — 한국어 음성인식 통합, 모바일 앱 우선 (투자 2억원)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Q3: AR 피팅룸 — 의류 가상 착용, 반품률 20% 감소 목표 (투자 5억원)</a:t>
            </a:r>
          </a:p>
          <a:p>
            <a:pPr>
              <a:spcAft>
                <a:spcPts val="360"/>
              </a:spcAft>
              <a:defRPr sz="1200">
                <a:solidFill>
                  <a:srgbClr val="2C3E50"/>
                </a:solidFill>
                <a:latin typeface="맑은 고딕"/>
              </a:defRPr>
            </a:pPr>
            <a:r>
              <a:t>Q4: 자율배송 시범 — 수도권 3개 거점, 배송비 30% 절감 기대 (투자 5억원)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지역별 매출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303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매출(억원)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성장률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당일배송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서울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대구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광주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리스크 분석 및 대응 방안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리스크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영향도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발생 가능성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 상태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대응 방안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물류비 상승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주시중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자체 물류센터 확보 (2026.Q3)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경쟁사 가격 공세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대응중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PB 상품 라인 확대 + 멤버십 강화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개인정보 규제 강화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준비중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CDP 도입 + 1st party 데이터 전략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환율 변동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모니터링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환헤지 + 국내 소싱 비중 확대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기술 인력 이탈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안정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RSU 보상 + 기술 교육 프로그램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서버 장애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안정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멀티 AZ + Auto Scaling + DR 계획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2분기 핵심 과제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920240" cy="10058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신규 고객</a:t>
            </a:r>
            <a:br/>
            <a:r>
              <a:t>확보 50만명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828800"/>
            <a:ext cx="1920240" cy="10058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객단가 회복</a:t>
            </a:r>
            <a:br/>
            <a:r>
              <a:t>10만원 목표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233172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0" y="1828800"/>
            <a:ext cx="1920240" cy="10058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모바일 비중</a:t>
            </a:r>
            <a:br/>
            <a:r>
              <a:t>70% 돌파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233172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1920240" cy="10058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AI 추천 v2</a:t>
            </a:r>
            <a:br/>
            <a:r>
              <a:t>정식 출시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52360" y="233172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0" y="1828800"/>
            <a:ext cx="1920240" cy="10058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당일배송</a:t>
            </a:r>
            <a:br/>
            <a:r>
              <a:t>전국 확대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21240" y="233172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[분기 목표]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매출: 52억원 (+15% QoQ) | MAU: 340만명 | 재구매율: 45%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[핵심 액션 아이템]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1. 여름 시즌 프로모션 기획 (6월 론칭, 마케팅비 5억원)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2. AI 추천 v2 A/B 테스트 → 정식 출시 (4월)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3. 부산/대전 당일배송 센터 오픈 (5월)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4. PB 브랜드 '샘플 에센셜' 론칭 (30개 SKU)</a:t>
            </a:r>
          </a:p>
          <a:p>
            <a:pPr>
              <a:spcAft>
                <a:spcPts val="390"/>
              </a:spcAft>
              <a:defRPr sz="1300">
                <a:solidFill>
                  <a:srgbClr val="2C3E50"/>
                </a:solidFill>
                <a:latin typeface="맑은 고딕"/>
              </a:defRPr>
            </a:pPr>
            <a:r>
              <a:t>  5. VIP 전용 라운지 서비스 시범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