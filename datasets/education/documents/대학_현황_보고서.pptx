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학과별 정원 vs 재학생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정원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컴퓨터공학</c:v>
                </c:pt>
                <c:pt idx="1">
                  <c:v>경영학</c:v>
                </c:pt>
                <c:pt idx="2">
                  <c:v>디자인</c:v>
                </c:pt>
                <c:pt idx="3">
                  <c:v>수학</c:v>
                </c:pt>
                <c:pt idx="4">
                  <c:v>영어영문</c:v>
                </c:pt>
                <c:pt idx="5">
                  <c:v>전자공학</c:v>
                </c:pt>
                <c:pt idx="6">
                  <c:v>기계공학</c:v>
                </c:pt>
                <c:pt idx="7">
                  <c:v>간호학</c:v>
                </c:pt>
                <c:pt idx="8">
                  <c:v>심리학</c:v>
                </c:pt>
                <c:pt idx="9">
                  <c:v>화학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400</c:v>
                </c:pt>
                <c:pt idx="1">
                  <c:v>350</c:v>
                </c:pt>
                <c:pt idx="2">
                  <c:v>200</c:v>
                </c:pt>
                <c:pt idx="3">
                  <c:v>150</c:v>
                </c:pt>
                <c:pt idx="4">
                  <c:v>180</c:v>
                </c:pt>
                <c:pt idx="5">
                  <c:v>300</c:v>
                </c:pt>
                <c:pt idx="6">
                  <c:v>250</c:v>
                </c:pt>
                <c:pt idx="7">
                  <c:v>200</c:v>
                </c:pt>
                <c:pt idx="8">
                  <c:v>150</c:v>
                </c:pt>
                <c:pt idx="9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재학생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컴퓨터공학</c:v>
                </c:pt>
                <c:pt idx="1">
                  <c:v>경영학</c:v>
                </c:pt>
                <c:pt idx="2">
                  <c:v>디자인</c:v>
                </c:pt>
                <c:pt idx="3">
                  <c:v>수학</c:v>
                </c:pt>
                <c:pt idx="4">
                  <c:v>영어영문</c:v>
                </c:pt>
                <c:pt idx="5">
                  <c:v>전자공학</c:v>
                </c:pt>
                <c:pt idx="6">
                  <c:v>기계공학</c:v>
                </c:pt>
                <c:pt idx="7">
                  <c:v>간호학</c:v>
                </c:pt>
                <c:pt idx="8">
                  <c:v>심리학</c:v>
                </c:pt>
                <c:pt idx="9">
                  <c:v>화학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395</c:v>
                </c:pt>
                <c:pt idx="1">
                  <c:v>340</c:v>
                </c:pt>
                <c:pt idx="2">
                  <c:v>198</c:v>
                </c:pt>
                <c:pt idx="3">
                  <c:v>145</c:v>
                </c:pt>
                <c:pt idx="4">
                  <c:v>170</c:v>
                </c:pt>
                <c:pt idx="5">
                  <c:v>290</c:v>
                </c:pt>
                <c:pt idx="6">
                  <c:v>240</c:v>
                </c:pt>
                <c:pt idx="7">
                  <c:v>200</c:v>
                </c:pt>
                <c:pt idx="8">
                  <c:v>148</c:v>
                </c:pt>
                <c:pt idx="9">
                  <c:v>115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평점 분포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학생비율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4.0~4.5</c:v>
                </c:pt>
                <c:pt idx="1">
                  <c:v>3.5~3.99</c:v>
                </c:pt>
                <c:pt idx="2">
                  <c:v>3.0~3.49</c:v>
                </c:pt>
                <c:pt idx="3">
                  <c:v>2.5~2.99</c:v>
                </c:pt>
                <c:pt idx="4">
                  <c:v>2.0~2.49</c:v>
                </c:pt>
                <c:pt idx="5">
                  <c:v>2.0 미만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28</c:v>
                </c:pt>
                <c:pt idx="2">
                  <c:v>30</c:v>
                </c:pt>
                <c:pt idx="3">
                  <c:v>18</c:v>
                </c:pt>
                <c:pt idx="4">
                  <c:v>7</c:v>
                </c:pt>
                <c:pt idx="5">
                  <c:v>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학과별 취업률 / 대학원 진학률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취업률(%)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컴퓨터공학</c:v>
                </c:pt>
                <c:pt idx="1">
                  <c:v>경영학</c:v>
                </c:pt>
                <c:pt idx="2">
                  <c:v>디자인</c:v>
                </c:pt>
                <c:pt idx="3">
                  <c:v>수학</c:v>
                </c:pt>
                <c:pt idx="4">
                  <c:v>영어영문</c:v>
                </c:pt>
                <c:pt idx="5">
                  <c:v>전자공학</c:v>
                </c:pt>
                <c:pt idx="6">
                  <c:v>기계공학</c:v>
                </c:pt>
                <c:pt idx="7">
                  <c:v>간호학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</c:v>
                </c:pt>
                <c:pt idx="1">
                  <c:v>75</c:v>
                </c:pt>
                <c:pt idx="2">
                  <c:v>70</c:v>
                </c:pt>
                <c:pt idx="3">
                  <c:v>65</c:v>
                </c:pt>
                <c:pt idx="4">
                  <c:v>68</c:v>
                </c:pt>
                <c:pt idx="5">
                  <c:v>85</c:v>
                </c:pt>
                <c:pt idx="6">
                  <c:v>80</c:v>
                </c:pt>
                <c:pt idx="7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대학원(%)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컴퓨터공학</c:v>
                </c:pt>
                <c:pt idx="1">
                  <c:v>경영학</c:v>
                </c:pt>
                <c:pt idx="2">
                  <c:v>디자인</c:v>
                </c:pt>
                <c:pt idx="3">
                  <c:v>수학</c:v>
                </c:pt>
                <c:pt idx="4">
                  <c:v>영어영문</c:v>
                </c:pt>
                <c:pt idx="5">
                  <c:v>전자공학</c:v>
                </c:pt>
                <c:pt idx="6">
                  <c:v>기계공학</c:v>
                </c:pt>
                <c:pt idx="7">
                  <c:v>간호학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</c:v>
                </c:pt>
                <c:pt idx="1">
                  <c:v>8</c:v>
                </c:pt>
                <c:pt idx="2">
                  <c:v>5</c:v>
                </c:pt>
                <c:pt idx="3">
                  <c:v>25</c:v>
                </c:pt>
                <c:pt idx="4">
                  <c:v>10</c:v>
                </c:pt>
                <c:pt idx="5">
                  <c:v>18</c:v>
                </c:pt>
                <c:pt idx="6">
                  <c:v>12</c:v>
                </c:pt>
                <c:pt idx="7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연구 성과 지표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2024년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SCI 논문</c:v>
                </c:pt>
                <c:pt idx="1">
                  <c:v>KCI 논문</c:v>
                </c:pt>
                <c:pt idx="2">
                  <c:v>특허 출원</c:v>
                </c:pt>
                <c:pt idx="3">
                  <c:v>특허 등록</c:v>
                </c:pt>
                <c:pt idx="4">
                  <c:v>기술이전</c:v>
                </c:pt>
                <c:pt idx="5">
                  <c:v>정부과제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85</c:v>
                </c:pt>
                <c:pt idx="2">
                  <c:v>35</c:v>
                </c:pt>
                <c:pt idx="3">
                  <c:v>18</c:v>
                </c:pt>
                <c:pt idx="4">
                  <c:v>8</c:v>
                </c:pt>
                <c:pt idx="5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2025년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SCI 논문</c:v>
                </c:pt>
                <c:pt idx="1">
                  <c:v>KCI 논문</c:v>
                </c:pt>
                <c:pt idx="2">
                  <c:v>특허 출원</c:v>
                </c:pt>
                <c:pt idx="3">
                  <c:v>특허 등록</c:v>
                </c:pt>
                <c:pt idx="4">
                  <c:v>기술이전</c:v>
                </c:pt>
                <c:pt idx="5">
                  <c:v>정부과제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145</c:v>
                </c:pt>
                <c:pt idx="1">
                  <c:v>92</c:v>
                </c:pt>
                <c:pt idx="2">
                  <c:v>42</c:v>
                </c:pt>
                <c:pt idx="3">
                  <c:v>25</c:v>
                </c:pt>
                <c:pt idx="4">
                  <c:v>12</c:v>
                </c:pt>
                <c:pt idx="5">
                  <c:v>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예산 구성 비율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예산비중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인건비</c:v>
                </c:pt>
                <c:pt idx="1">
                  <c:v>시설비</c:v>
                </c:pt>
                <c:pt idx="2">
                  <c:v>장학금</c:v>
                </c:pt>
                <c:pt idx="3">
                  <c:v>연구비</c:v>
                </c:pt>
                <c:pt idx="4">
                  <c:v>운영비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15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항목별 만족도 추이 (5점 만점)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2024년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수업 품질</c:v>
                </c:pt>
                <c:pt idx="1">
                  <c:v>교수 상담</c:v>
                </c:pt>
                <c:pt idx="2">
                  <c:v>취업 지원</c:v>
                </c:pt>
                <c:pt idx="3">
                  <c:v>시설/환경</c:v>
                </c:pt>
                <c:pt idx="4">
                  <c:v>행정 서비스</c:v>
                </c:pt>
                <c:pt idx="5">
                  <c:v>동아리/활동</c:v>
                </c:pt>
                <c:pt idx="6">
                  <c:v>기숙사</c:v>
                </c:pt>
                <c:pt idx="7">
                  <c:v>식당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3.8</c:v>
                </c:pt>
                <c:pt idx="1">
                  <c:v>3.5</c:v>
                </c:pt>
                <c:pt idx="2">
                  <c:v>3.6</c:v>
                </c:pt>
                <c:pt idx="3">
                  <c:v>3.4</c:v>
                </c:pt>
                <c:pt idx="4">
                  <c:v>3.2</c:v>
                </c:pt>
                <c:pt idx="5">
                  <c:v>4.0</c:v>
                </c:pt>
                <c:pt idx="6">
                  <c:v>3.3</c:v>
                </c:pt>
                <c:pt idx="7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2025년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수업 품질</c:v>
                </c:pt>
                <c:pt idx="1">
                  <c:v>교수 상담</c:v>
                </c:pt>
                <c:pt idx="2">
                  <c:v>취업 지원</c:v>
                </c:pt>
                <c:pt idx="3">
                  <c:v>시설/환경</c:v>
                </c:pt>
                <c:pt idx="4">
                  <c:v>행정 서비스</c:v>
                </c:pt>
                <c:pt idx="5">
                  <c:v>동아리/활동</c:v>
                </c:pt>
                <c:pt idx="6">
                  <c:v>기숙사</c:v>
                </c:pt>
                <c:pt idx="7">
                  <c:v>식당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4.0</c:v>
                </c:pt>
                <c:pt idx="1">
                  <c:v>3.7</c:v>
                </c:pt>
                <c:pt idx="2">
                  <c:v>3.9</c:v>
                </c:pt>
                <c:pt idx="3">
                  <c:v>3.6</c:v>
                </c:pt>
                <c:pt idx="4">
                  <c:v>3.5</c:v>
                </c:pt>
                <c:pt idx="5">
                  <c:v>4.1</c:v>
                </c:pt>
                <c:pt idx="6">
                  <c:v>3.5</c:v>
                </c:pt>
                <c:pt idx="7">
                  <c:v>3.2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2026년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수업 품질</c:v>
                </c:pt>
                <c:pt idx="1">
                  <c:v>교수 상담</c:v>
                </c:pt>
                <c:pt idx="2">
                  <c:v>취업 지원</c:v>
                </c:pt>
                <c:pt idx="3">
                  <c:v>시설/환경</c:v>
                </c:pt>
                <c:pt idx="4">
                  <c:v>행정 서비스</c:v>
                </c:pt>
                <c:pt idx="5">
                  <c:v>동아리/활동</c:v>
                </c:pt>
                <c:pt idx="6">
                  <c:v>기숙사</c:v>
                </c:pt>
                <c:pt idx="7">
                  <c:v>식당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4.1</c:v>
                </c:pt>
                <c:pt idx="1">
                  <c:v>3.9</c:v>
                </c:pt>
                <c:pt idx="2">
                  <c:v>4.0</c:v>
                </c:pt>
                <c:pt idx="3">
                  <c:v>3.7</c:v>
                </c:pt>
                <c:pt idx="4">
                  <c:v>3.6</c:v>
                </c:pt>
                <c:pt idx="5">
                  <c:v>4.2</c:v>
                </c:pt>
                <c:pt idx="6">
                  <c:v>3.6</c:v>
                </c:pt>
                <c:pt idx="7">
                  <c:v>3.4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대학 현황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맑은 고딕"/>
              </a:defRPr>
            </a:pPr>
            <a:r>
              <a:t>2026학년도 1학기 | 샘플대학교</a:t>
            </a:r>
            <a:br/>
            <a:r>
              <a:t>기획처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주요 현황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1645920"/>
            <a:ext cx="1737360" cy="1463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12,350명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재학생 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5487" y="1645920"/>
            <a:ext cx="17373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78.5%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취업률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7167" y="1645920"/>
            <a:ext cx="173736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98.2%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충원율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8847" y="1645920"/>
            <a:ext cx="1737360" cy="1463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425억원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등록금 수입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0527" y="1645920"/>
            <a:ext cx="1737360" cy="146304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85억원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연구비 수주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학과별 재학생 현황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[충원율 TOP 3]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1. 간호학과 100%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2. 컴퓨터공학 98.8%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3. 디자인학과 99.0%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[충원율 하위]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화학과 95.8%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수학과 96.7%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학생 성적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2025학년도 2학기 전체 평점 분포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371600"/>
          <a:ext cx="5760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학과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평균 GPA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장학금 수혜율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학사경고율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컴퓨터공학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3.42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경영학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4.5%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디자인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3.55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5.8%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영어영문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3.38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간호학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컴퓨터공학과 교과 과정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2026학년도 커리큘럼 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학년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1학기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2학기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학점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1학년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프로그래밍기초, 이산수학, 컴퓨터개론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C프로그래밍, 선형대수, 웹기초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기초 필수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2학년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자료구조, 컴퓨터구조, 확률통계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알고리즘, 운영체제, 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전공 심화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3학년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AI개론, 데이터베이스, 네트워크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머신러닝, 소프트웨어공학, 보안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전공 심화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4학년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졸업프로젝트I, 전공선택2과목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졸업프로젝트II, 전공선택2과목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캡스톤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029200"/>
            <a:ext cx="1645920" cy="6400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프로그래밍</a:t>
            </a:r>
            <a:br/>
            <a:r>
              <a:t>기초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029200"/>
            <a:ext cx="164592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자료구조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46120" y="534924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5029200"/>
            <a:ext cx="164592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알고리즘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32120" y="534924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5029200"/>
            <a:ext cx="164592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AI 개론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8120" y="534924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0" y="5029200"/>
            <a:ext cx="164592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졸업</a:t>
            </a:r>
            <a:br/>
            <a:r>
              <a:t>프로젝트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104120" y="534924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취업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2025년 졸업생 기준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371600"/>
          <a:ext cx="4389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취업처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삼성전자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45명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네이버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28명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카카오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LG전자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현대자동차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SK하이닉스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스타트업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공기업/공무원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연구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2025년 기준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371600"/>
          <a:ext cx="4846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연구 분야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논문수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피인용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인공지능/ML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38편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520회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데이터베이스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180회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컴퓨터비전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310회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자연어처리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250회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보안/암호학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95회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시설 이용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시설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수용인원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이용률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만족도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개선 요청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중앙도서관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500석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4.3/5.0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24시간 열람실 좌석 확대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공학관 실습실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30석x10실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4.1/5.0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PC 교체 (노후 장비)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학생식당 (3개소)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800석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3.5/5.0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메뉴 다양화, 가격 인하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기숙사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2,000명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3.8/5.0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에어컨 설치 (구관)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체육관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실내 3개, 운동장 1개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4.0/5.0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샤워실 리모델링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창업보육센터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4.5/5.0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입주 공간 확대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예산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2026학년도 (단위: 억원)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371600"/>
          <a:ext cx="5760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예산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집행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집행률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인건비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320억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240억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시설비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120억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45억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장학금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160억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연구비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96억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48억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운영비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64억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40억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800억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465억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학생 만족도 조사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3월 (응답: 5,800명)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2026학년도 학사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10058400" cy="54864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2084832"/>
            <a:ext cx="274320" cy="2743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  <a:latin typeface="맑은 고딕"/>
              </a:defRPr>
            </a:pPr>
            <a:r>
              <a:t>3월 2일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9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1학기 개강</a:t>
            </a:r>
          </a:p>
        </p:txBody>
      </p:sp>
      <p:sp>
        <p:nvSpPr>
          <p:cNvPr id="8" name="Oval 7"/>
          <p:cNvSpPr/>
          <p:nvPr/>
        </p:nvSpPr>
        <p:spPr>
          <a:xfrm>
            <a:off x="3319272" y="2084832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4월 18일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중간고사</a:t>
            </a:r>
          </a:p>
        </p:txBody>
      </p:sp>
      <p:sp>
        <p:nvSpPr>
          <p:cNvPr id="11" name="Oval 10"/>
          <p:cNvSpPr/>
          <p:nvPr/>
        </p:nvSpPr>
        <p:spPr>
          <a:xfrm>
            <a:off x="5833872" y="2084832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맑은 고딕"/>
              </a:defRPr>
            </a:pPr>
            <a:r>
              <a:t>6월 12일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기말고사</a:t>
            </a:r>
          </a:p>
        </p:txBody>
      </p:sp>
      <p:sp>
        <p:nvSpPr>
          <p:cNvPr id="14" name="Oval 13"/>
          <p:cNvSpPr/>
          <p:nvPr/>
        </p:nvSpPr>
        <p:spPr>
          <a:xfrm>
            <a:off x="8348472" y="2084832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맑은 고딕"/>
              </a:defRPr>
            </a:pPr>
            <a:r>
              <a:t>6월 19일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1학기 종강</a:t>
            </a:r>
          </a:p>
        </p:txBody>
      </p:sp>
      <p:sp>
        <p:nvSpPr>
          <p:cNvPr id="17" name="Oval 16"/>
          <p:cNvSpPr/>
          <p:nvPr/>
        </p:nvSpPr>
        <p:spPr>
          <a:xfrm>
            <a:off x="10863072" y="2084832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맑은 고딕"/>
              </a:defRPr>
            </a:pPr>
            <a:r>
              <a:t>9월 1일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2학기 개강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41148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일정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날짜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수강신청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2.23~2.27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전학년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포털 &gt; 학사정보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수강정정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3.2~3.6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전학년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변경 가능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수강철회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4.13~4.17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전학년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W 표기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계절학기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6.22~7.17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희망자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최대 6학점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중장기 발전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VISION 2030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2057400" cy="20574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교육 혁신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AI 융합 교육</a:t>
            </a:r>
            <a:br/>
            <a:r>
              <a:t>플립러닝 확대</a:t>
            </a:r>
            <a:br/>
            <a:r>
              <a:t>마이크로디그리</a:t>
            </a:r>
            <a:br/>
            <a:r>
              <a:t>산학 연계 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057400" cy="2057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연구 경쟁력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BK21 사업 확대</a:t>
            </a:r>
            <a:br/>
            <a:r>
              <a:t>SCI 논문 200편</a:t>
            </a:r>
            <a:br/>
            <a:r>
              <a:t>산학협력 100건</a:t>
            </a:r>
            <a:br/>
            <a:r>
              <a:t>연구비 120억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2057400" cy="2057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글로벌화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교환학생 500명</a:t>
            </a:r>
            <a:br/>
            <a:r>
              <a:t>해외 대학 MOU 50건</a:t>
            </a:r>
            <a:br/>
            <a:r>
              <a:t>영어 강의 30%</a:t>
            </a:r>
            <a:br/>
            <a:r>
              <a:t>해외 캠퍼스 1개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657600"/>
            <a:ext cx="2057400" cy="2057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캠퍼스 혁신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스마트 캠퍼스</a:t>
            </a:r>
            <a:br/>
            <a:r>
              <a:t>기숙사 증축</a:t>
            </a:r>
            <a:br/>
            <a:r>
              <a:t>친환경 건물</a:t>
            </a:r>
            <a:br/>
            <a:r>
              <a:t>장애인 편의 확대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[VISION 2030 목표]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국내 대학 순위: 15위 → 10위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QS 아시아: 200위 → 150위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재학생: 12,350 → 15,000명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외국인 학생: 5% → 15%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취업률: 78% → 85%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[투자 계획]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5개년 총 1,500억원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교육 500 / 연구 400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시설 400 / 글로벌 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